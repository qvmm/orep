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302" r:id="rId3"/>
    <p:sldId id="303" r:id="rId4"/>
    <p:sldId id="306" r:id="rId6"/>
    <p:sldId id="307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96" r:id="rId16"/>
    <p:sldId id="264" r:id="rId17"/>
    <p:sldId id="265" r:id="rId18"/>
    <p:sldId id="266" r:id="rId19"/>
    <p:sldId id="267" r:id="rId20"/>
    <p:sldId id="268" r:id="rId21"/>
    <p:sldId id="298" r:id="rId22"/>
    <p:sldId id="297" r:id="rId23"/>
    <p:sldId id="299" r:id="rId24"/>
    <p:sldId id="269" r:id="rId25"/>
    <p:sldId id="300" r:id="rId26"/>
    <p:sldId id="270" r:id="rId27"/>
    <p:sldId id="271" r:id="rId28"/>
    <p:sldId id="272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93"/>
    <p:restoredTop sz="96186"/>
  </p:normalViewPr>
  <p:slideViewPr>
    <p:cSldViewPr snapToGrid="0">
      <p:cViewPr varScale="1">
        <p:scale>
          <a:sx n="114" d="100"/>
          <a:sy n="114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BAA37-2F33-764E-952E-4334AF6AB7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3169C-4066-5D40-991A-E0F242E6A8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34A9B-3198-D144-91C5-8C22B642D84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5DEA2-FAD2-2E44-BC85-78AB2299EE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-5690" y="0"/>
            <a:ext cx="12197689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317500" y="503725"/>
            <a:ext cx="18421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PPT 逻辑架构分析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75290" y="60780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遵循的递进逻辑</a:t>
            </a:r>
            <a:endParaRPr kumimoji="1" lang="zh-CN" altLang="en-US" sz="1400" i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25902" y="970121"/>
            <a:ext cx="6340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“发现问题 </a:t>
            </a:r>
            <a:r>
              <a:rPr kumimoji="1" lang="en-US" altLang="zh-CN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-&gt; </a:t>
            </a:r>
            <a:r>
              <a: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寻求对策 </a:t>
            </a:r>
            <a:r>
              <a:rPr kumimoji="1" lang="en-US" altLang="zh-CN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-&gt; </a:t>
            </a:r>
            <a:r>
              <a: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规范实施 </a:t>
            </a:r>
            <a:r>
              <a:rPr kumimoji="1" lang="en-US" altLang="zh-CN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-&gt; </a:t>
            </a:r>
            <a:r>
              <a: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成果提炼 </a:t>
            </a:r>
            <a:r>
              <a:rPr kumimoji="1" lang="en-US" altLang="zh-CN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-&gt; </a:t>
            </a:r>
            <a:r>
              <a: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价值转化”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4800" y="479932"/>
            <a:ext cx="11569700" cy="967868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04800" y="1500924"/>
            <a:ext cx="11525250" cy="171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需求驱动（项目背景）：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通过时事、政策、市场三位一体的数据分析，证明项目存在的必要性，完成从“社会痛点”到“研发动因”的逻辑闭环 。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方法支撑（研发历程）：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强调校企合作背景，展示技术架构与安全规范。重点在于证明项目不是“闭门造车”，而是遵循国家标准与行业规范的专业开发 。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岗位实操（实施过程）：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这是该模板的核心特色。它将项目拆解为 </a:t>
            </a:r>
            <a:r>
              <a:rPr kumimoji="1" lang="en-GB" altLang="zh-CN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PM</a:t>
            </a:r>
            <a:r>
              <a:rPr kumimoji="1" lang="zh-CN" altLang="en-GB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前端、后端、测试四个岗位，不仅展示“做了什么”，更通过流程图和数据对比展示“怎么做的”以及“优化了什么” 。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亮点提炼（创新设计）：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从技术应用与模式两个维度总结创新锚点，并给出具体的成效数据 。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价值闭环（应用价值）：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将成果回归于企业（经济效益）、学校（教学资源）与个人（技能成长），证明项目的可持续性 。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608768" y="3556000"/>
            <a:ext cx="10118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逻辑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优势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0100" y="3958054"/>
            <a:ext cx="5240300" cy="2265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极强的专业性与规范性：通过引入“国家标准”和“编码规范”，提升了项目的技术底蕴和严谨度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角色驱动的实证力：分岗位展示实操环节，不仅体现了团队分工，还让评审能直观看到每个技术环节的落地能力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严密的对应关系：模板要求“问题”与“解决措施”一一对应，有效避免了路演中常见的“文不对题”现象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闭环的评价体系：从政策引出研发，最后以企业合作协议和专利收尾，形成了完整的证据链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1150" y="3405040"/>
            <a:ext cx="5607050" cy="3251200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8054451" y="3579960"/>
            <a:ext cx="20457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重点关注与注意事项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62752" y="3982014"/>
            <a:ext cx="5240300" cy="2542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命名逻辑：标题建议采用“核心功能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对象”的组合（如：</a:t>
            </a:r>
            <a:r>
              <a:rPr kumimoji="1" lang="en-GB" altLang="zh-CN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智护银龄），需兼具技术感与人文关怀 。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匿名原则：严格执行代号制度，团队名称和</a:t>
            </a:r>
            <a:r>
              <a:rPr kumimoji="1" lang="en-GB" altLang="zh-CN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内容严禁出现真实名称 。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数据可视化：背景部分必须有具体的数据支撑（如跌倒率、老龄人口数、准确率、事发率等），并进行图表化处理 。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实施过程的深度：每个岗位的展示建议在 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页左右，必须包含岗位职责、操作流程图及优化前后的对比数据 。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成果真实性：应用价值页需提供合作协议或专利证明截图，增强项目的市场公信力 。</a:t>
            </a:r>
            <a:endParaRPr kumimoji="1" lang="zh-CN" altLang="en-US" sz="1200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73802" y="3429000"/>
            <a:ext cx="5607050" cy="3251200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4638" y="2851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</a:rPr>
              <a:t>--</a:t>
            </a:r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前言</a:t>
            </a:r>
            <a:endParaRPr kumimoji="1"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-5690" y="0"/>
            <a:ext cx="12197689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660108" y="183107"/>
            <a:ext cx="8027248" cy="6535613"/>
            <a:chOff x="364203" y="183107"/>
            <a:chExt cx="8027248" cy="6535613"/>
          </a:xfrm>
        </p:grpSpPr>
        <p:sp>
          <p:nvSpPr>
            <p:cNvPr id="6" name="文本框 5"/>
            <p:cNvSpPr txBox="1"/>
            <p:nvPr/>
          </p:nvSpPr>
          <p:spPr>
            <a:xfrm>
              <a:off x="364203" y="3218934"/>
              <a:ext cx="21467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FFC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路演</a:t>
              </a:r>
              <a:r>
                <a:rPr kumimoji="1" lang="en-US" altLang="zh-CN" dirty="0">
                  <a:solidFill>
                    <a:srgbClr val="FFC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PPT</a:t>
              </a:r>
              <a:r>
                <a:rPr kumimoji="1" lang="zh-CN" altLang="en-US" dirty="0">
                  <a:solidFill>
                    <a:srgbClr val="FFC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逻辑全景图</a:t>
              </a:r>
              <a:endParaRPr kumimoji="1" lang="zh-CN" altLang="en-US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727969" y="104049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项目背景</a:t>
              </a:r>
              <a:endPara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727969" y="213269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研发历程</a:t>
              </a:r>
              <a:endPara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727969" y="322489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实施过程</a:t>
              </a:r>
              <a:endPara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727969" y="431709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创新设计</a:t>
              </a:r>
              <a:endPara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727969" y="540929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应用价值</a:t>
              </a:r>
              <a:endParaRPr kumimoji="1" lang="zh-CN" altLang="en-US" sz="1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6437070" y="183107"/>
              <a:ext cx="1281120" cy="1100098"/>
              <a:chOff x="8674100" y="195807"/>
              <a:chExt cx="1281120" cy="1100098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8674100" y="195807"/>
                <a:ext cx="1281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时事新闻分析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674100" y="470173"/>
                <a:ext cx="1281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政策背景支撑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8674100" y="744539"/>
                <a:ext cx="1281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市场考察调研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8674100" y="1018906"/>
                <a:ext cx="1281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明确研发动因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6437070" y="1431287"/>
              <a:ext cx="1896673" cy="1579960"/>
              <a:chOff x="8674100" y="1480571"/>
              <a:chExt cx="1896673" cy="1579960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8674100" y="1480571"/>
                <a:ext cx="18966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产教融合（校企合作）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8674100" y="1741163"/>
                <a:ext cx="14350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调研与痛点提炼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8674100" y="2001755"/>
                <a:ext cx="17860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问题策略（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+mn-ea"/>
                  </a:rPr>
                  <a:t>1:1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对应）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674100" y="2262347"/>
                <a:ext cx="1281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五层技术架构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674100" y="2522939"/>
                <a:ext cx="14350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安全与编码规范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674100" y="2783532"/>
                <a:ext cx="1281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团队明确分工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437070" y="3159329"/>
              <a:ext cx="1896673" cy="1340029"/>
              <a:chOff x="8674100" y="3189153"/>
              <a:chExt cx="1896673" cy="1340029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8674100" y="3189153"/>
                <a:ext cx="18966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产品经理（业务逻辑）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8674100" y="3454910"/>
                <a:ext cx="18966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前端开发（技术实现）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8674100" y="3720667"/>
                <a:ext cx="18966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后端开发（数据处理）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674100" y="3986424"/>
                <a:ext cx="18966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测试工程（质量保障）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8674100" y="4252183"/>
                <a:ext cx="17427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工匠精神（全周期）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6437070" y="4647440"/>
              <a:ext cx="1742785" cy="823099"/>
              <a:chOff x="8674100" y="4690112"/>
              <a:chExt cx="1742785" cy="823099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8674100" y="4690112"/>
                <a:ext cx="15888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技术应用创新锚点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8674100" y="4963162"/>
                <a:ext cx="17427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模式创新与社会价值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8674100" y="5236212"/>
                <a:ext cx="1281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量化创新成效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437070" y="5618622"/>
              <a:ext cx="1954381" cy="1100098"/>
              <a:chOff x="8674100" y="5631322"/>
              <a:chExt cx="1954381" cy="1100098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674100" y="5631322"/>
                <a:ext cx="16466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企业（经济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+mn-ea"/>
                  </a:rPr>
                  <a:t>/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合作）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8674100" y="5905688"/>
                <a:ext cx="16466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学校（教学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+mn-ea"/>
                  </a:rPr>
                  <a:t>/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课程）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8674100" y="6180054"/>
                <a:ext cx="16466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团队（技能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+mn-ea"/>
                  </a:rPr>
                  <a:t>/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成长）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8674100" y="6454421"/>
                <a:ext cx="19543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知识产权（专利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+mn-ea"/>
                  </a:rPr>
                  <a:t>/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+mn-ea"/>
                  </a:rPr>
                  <a:t>协议）</a:t>
                </a:r>
                <a:endParaRPr kumimoji="1"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cxnSp>
          <p:nvCxnSpPr>
            <p:cNvPr id="43" name="直线连接符 42"/>
            <p:cNvCxnSpPr>
              <a:endCxn id="7" idx="1"/>
            </p:cNvCxnSpPr>
            <p:nvPr/>
          </p:nvCxnSpPr>
          <p:spPr>
            <a:xfrm flipV="1">
              <a:off x="2510945" y="1209770"/>
              <a:ext cx="1217024" cy="21938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/>
            <p:cNvCxnSpPr>
              <a:endCxn id="8" idx="1"/>
            </p:cNvCxnSpPr>
            <p:nvPr/>
          </p:nvCxnSpPr>
          <p:spPr>
            <a:xfrm flipV="1">
              <a:off x="2510945" y="2301970"/>
              <a:ext cx="1217024" cy="11016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/>
            <p:cNvCxnSpPr>
              <a:endCxn id="9" idx="1"/>
            </p:cNvCxnSpPr>
            <p:nvPr/>
          </p:nvCxnSpPr>
          <p:spPr>
            <a:xfrm flipV="1">
              <a:off x="2510945" y="3394170"/>
              <a:ext cx="1217024" cy="309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连接符 48"/>
            <p:cNvCxnSpPr>
              <a:endCxn id="10" idx="1"/>
            </p:cNvCxnSpPr>
            <p:nvPr/>
          </p:nvCxnSpPr>
          <p:spPr>
            <a:xfrm>
              <a:off x="2510945" y="3403600"/>
              <a:ext cx="1217024" cy="108277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/>
            <p:cNvCxnSpPr>
              <a:stCxn id="6" idx="3"/>
              <a:endCxn id="11" idx="1"/>
            </p:cNvCxnSpPr>
            <p:nvPr/>
          </p:nvCxnSpPr>
          <p:spPr>
            <a:xfrm>
              <a:off x="2510945" y="3403600"/>
              <a:ext cx="1217024" cy="217497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/>
            <p:cNvCxnSpPr>
              <a:endCxn id="12" idx="1"/>
            </p:cNvCxnSpPr>
            <p:nvPr/>
          </p:nvCxnSpPr>
          <p:spPr>
            <a:xfrm flipV="1">
              <a:off x="4733372" y="321607"/>
              <a:ext cx="1703698" cy="888163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/>
            <p:cNvCxnSpPr>
              <a:endCxn id="13" idx="1"/>
            </p:cNvCxnSpPr>
            <p:nvPr/>
          </p:nvCxnSpPr>
          <p:spPr>
            <a:xfrm flipV="1">
              <a:off x="4733372" y="595973"/>
              <a:ext cx="1703698" cy="613797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/>
            <p:cNvCxnSpPr>
              <a:stCxn id="7" idx="3"/>
              <a:endCxn id="14" idx="1"/>
            </p:cNvCxnSpPr>
            <p:nvPr/>
          </p:nvCxnSpPr>
          <p:spPr>
            <a:xfrm flipV="1">
              <a:off x="4733372" y="870339"/>
              <a:ext cx="1703698" cy="339431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/>
            <p:cNvCxnSpPr>
              <a:stCxn id="7" idx="3"/>
              <a:endCxn id="15" idx="1"/>
            </p:cNvCxnSpPr>
            <p:nvPr/>
          </p:nvCxnSpPr>
          <p:spPr>
            <a:xfrm flipV="1">
              <a:off x="4733372" y="1144706"/>
              <a:ext cx="1703698" cy="6506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>
              <a:stCxn id="8" idx="3"/>
              <a:endCxn id="16" idx="1"/>
            </p:cNvCxnSpPr>
            <p:nvPr/>
          </p:nvCxnSpPr>
          <p:spPr>
            <a:xfrm flipV="1">
              <a:off x="4733372" y="1569787"/>
              <a:ext cx="1703698" cy="732183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/>
            <p:cNvCxnSpPr>
              <a:endCxn id="17" idx="1"/>
            </p:cNvCxnSpPr>
            <p:nvPr/>
          </p:nvCxnSpPr>
          <p:spPr>
            <a:xfrm flipV="1">
              <a:off x="4733372" y="1830379"/>
              <a:ext cx="1703698" cy="471591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连接符 64"/>
            <p:cNvCxnSpPr>
              <a:stCxn id="8" idx="3"/>
              <a:endCxn id="18" idx="1"/>
            </p:cNvCxnSpPr>
            <p:nvPr/>
          </p:nvCxnSpPr>
          <p:spPr>
            <a:xfrm flipV="1">
              <a:off x="4733372" y="2090971"/>
              <a:ext cx="1703698" cy="210999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连接符 66"/>
            <p:cNvCxnSpPr>
              <a:stCxn id="8" idx="3"/>
              <a:endCxn id="19" idx="1"/>
            </p:cNvCxnSpPr>
            <p:nvPr/>
          </p:nvCxnSpPr>
          <p:spPr>
            <a:xfrm>
              <a:off x="4733372" y="2301970"/>
              <a:ext cx="1703698" cy="49593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/>
            <p:cNvCxnSpPr>
              <a:stCxn id="8" idx="3"/>
              <a:endCxn id="20" idx="1"/>
            </p:cNvCxnSpPr>
            <p:nvPr/>
          </p:nvCxnSpPr>
          <p:spPr>
            <a:xfrm>
              <a:off x="4733372" y="2301970"/>
              <a:ext cx="1703698" cy="310185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/>
            <p:cNvCxnSpPr>
              <a:stCxn id="8" idx="3"/>
              <a:endCxn id="21" idx="1"/>
            </p:cNvCxnSpPr>
            <p:nvPr/>
          </p:nvCxnSpPr>
          <p:spPr>
            <a:xfrm>
              <a:off x="4733372" y="2301970"/>
              <a:ext cx="1703698" cy="57077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/>
            <p:cNvCxnSpPr>
              <a:stCxn id="9" idx="3"/>
              <a:endCxn id="22" idx="1"/>
            </p:cNvCxnSpPr>
            <p:nvPr/>
          </p:nvCxnSpPr>
          <p:spPr>
            <a:xfrm flipV="1">
              <a:off x="4733372" y="3297829"/>
              <a:ext cx="1703698" cy="96341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/>
            <p:cNvCxnSpPr>
              <a:endCxn id="23" idx="1"/>
            </p:cNvCxnSpPr>
            <p:nvPr/>
          </p:nvCxnSpPr>
          <p:spPr>
            <a:xfrm>
              <a:off x="4733372" y="3394170"/>
              <a:ext cx="1703698" cy="169416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/>
            <p:cNvCxnSpPr>
              <a:endCxn id="24" idx="1"/>
            </p:cNvCxnSpPr>
            <p:nvPr/>
          </p:nvCxnSpPr>
          <p:spPr>
            <a:xfrm>
              <a:off x="4733372" y="3394170"/>
              <a:ext cx="1703698" cy="435173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/>
            <p:cNvCxnSpPr>
              <a:stCxn id="9" idx="3"/>
              <a:endCxn id="25" idx="1"/>
            </p:cNvCxnSpPr>
            <p:nvPr/>
          </p:nvCxnSpPr>
          <p:spPr>
            <a:xfrm>
              <a:off x="4733372" y="3394170"/>
              <a:ext cx="1703698" cy="70093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/>
            <p:cNvCxnSpPr>
              <a:stCxn id="9" idx="3"/>
              <a:endCxn id="26" idx="1"/>
            </p:cNvCxnSpPr>
            <p:nvPr/>
          </p:nvCxnSpPr>
          <p:spPr>
            <a:xfrm>
              <a:off x="4733372" y="3394170"/>
              <a:ext cx="1703698" cy="966689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/>
            <p:cNvCxnSpPr>
              <a:stCxn id="10" idx="3"/>
              <a:endCxn id="27" idx="1"/>
            </p:cNvCxnSpPr>
            <p:nvPr/>
          </p:nvCxnSpPr>
          <p:spPr>
            <a:xfrm>
              <a:off x="4733372" y="4486370"/>
              <a:ext cx="1703698" cy="29957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/>
            <p:cNvCxnSpPr>
              <a:stCxn id="10" idx="3"/>
              <a:endCxn id="28" idx="1"/>
            </p:cNvCxnSpPr>
            <p:nvPr/>
          </p:nvCxnSpPr>
          <p:spPr>
            <a:xfrm>
              <a:off x="4733372" y="4486370"/>
              <a:ext cx="1703698" cy="57262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/>
            <p:cNvCxnSpPr>
              <a:stCxn id="10" idx="3"/>
              <a:endCxn id="29" idx="1"/>
            </p:cNvCxnSpPr>
            <p:nvPr/>
          </p:nvCxnSpPr>
          <p:spPr>
            <a:xfrm>
              <a:off x="4733372" y="4486370"/>
              <a:ext cx="1703698" cy="84567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线连接符 92"/>
            <p:cNvCxnSpPr>
              <a:stCxn id="11" idx="3"/>
              <a:endCxn id="32" idx="1"/>
            </p:cNvCxnSpPr>
            <p:nvPr/>
          </p:nvCxnSpPr>
          <p:spPr>
            <a:xfrm>
              <a:off x="4733372" y="5578570"/>
              <a:ext cx="1703698" cy="178552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连接符 94"/>
            <p:cNvCxnSpPr>
              <a:stCxn id="11" idx="3"/>
              <a:endCxn id="33" idx="1"/>
            </p:cNvCxnSpPr>
            <p:nvPr/>
          </p:nvCxnSpPr>
          <p:spPr>
            <a:xfrm>
              <a:off x="4733372" y="5578570"/>
              <a:ext cx="1703698" cy="45291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线连接符 96"/>
            <p:cNvCxnSpPr>
              <a:stCxn id="11" idx="3"/>
              <a:endCxn id="34" idx="1"/>
            </p:cNvCxnSpPr>
            <p:nvPr/>
          </p:nvCxnSpPr>
          <p:spPr>
            <a:xfrm>
              <a:off x="4733372" y="5578570"/>
              <a:ext cx="1703698" cy="72728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连接符 98"/>
            <p:cNvCxnSpPr>
              <a:stCxn id="11" idx="3"/>
              <a:endCxn id="35" idx="1"/>
            </p:cNvCxnSpPr>
            <p:nvPr/>
          </p:nvCxnSpPr>
          <p:spPr>
            <a:xfrm>
              <a:off x="4733372" y="5578570"/>
              <a:ext cx="1703698" cy="1001651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文本框 101"/>
          <p:cNvSpPr txBox="1"/>
          <p:nvPr/>
        </p:nvSpPr>
        <p:spPr>
          <a:xfrm>
            <a:off x="34638" y="2851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</a:rPr>
              <a:t>--</a:t>
            </a:r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前言</a:t>
            </a:r>
            <a:endParaRPr kumimoji="1"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-5690" y="0"/>
            <a:ext cx="12197689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4638" y="2851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</a:rPr>
              <a:t>--</a:t>
            </a:r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前言</a:t>
            </a:r>
            <a:endParaRPr kumimoji="1"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9799" y="572325"/>
            <a:ext cx="3647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新赛制评分要素：</a:t>
            </a:r>
            <a:r>
              <a:rPr kumimoji="1" lang="en-US" altLang="zh-CN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kumimoji="1"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映射总览</a:t>
            </a:r>
            <a:endParaRPr kumimoji="1"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69934" y="1083742"/>
          <a:ext cx="10979063" cy="5447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806"/>
                <a:gridCol w="1916482"/>
                <a:gridCol w="2329841"/>
                <a:gridCol w="5141934"/>
              </a:tblGrid>
              <a:tr h="51334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评分大项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9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涉及页码</a:t>
                      </a:r>
                      <a:r>
                        <a:rPr lang="zh-CN" altLang="en-US" sz="7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（每以页右下角标注为准）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9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对应</a:t>
                      </a:r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PPT</a:t>
                      </a: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内容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9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评审关注点与主意事项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96D"/>
                    </a:solidFill>
                  </a:tcPr>
                </a:tc>
              </a:tr>
              <a:tr h="0">
                <a:tc rowSpan="3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技能水平 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(60%)</a:t>
                      </a:r>
                      <a:endParaRPr lang="zh-CN" altLang="en-US" sz="1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P08</a:t>
                      </a:r>
                      <a:r>
                        <a:rPr lang="zh-CN" altLang="en-US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P09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问题策略对策图、五层技术架构。</a:t>
                      </a:r>
                      <a:endParaRPr lang="en-US" altLang="zh-CN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复杂问题解决能力：</a:t>
                      </a:r>
                      <a:endParaRPr lang="en-US" altLang="zh-CN" sz="9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GB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P08</a:t>
                      </a:r>
                      <a:r>
                        <a:rPr lang="zh-CN" altLang="en-GB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体现逻辑严密性（问题与对策</a:t>
                      </a:r>
                      <a:r>
                        <a:rPr lang="en-US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1:1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）。</a:t>
                      </a:r>
                      <a:endParaRPr lang="zh-CN" altLang="en-US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GB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P09</a:t>
                      </a:r>
                      <a:r>
                        <a:rPr lang="zh-CN" altLang="en-GB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体现技术深度。不仅是堆砌技术栈，要体现架构的合理性与先进性。</a:t>
                      </a:r>
                      <a:endParaRPr lang="zh-CN" altLang="en-US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P11</a:t>
                      </a:r>
                      <a:r>
                        <a:rPr lang="zh-CN" altLang="en-US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P14-P17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关键技术、</a:t>
                      </a:r>
                      <a:r>
                        <a:rPr lang="en-GB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PM/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前端</a:t>
                      </a:r>
                      <a:r>
                        <a:rPr lang="en-US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后端</a:t>
                      </a:r>
                      <a:r>
                        <a:rPr lang="en-US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测试岗位实操。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注意事项：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权重最高！不要只展示界面。</a:t>
                      </a:r>
                      <a:endParaRPr lang="en-US" altLang="zh-CN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后端</a:t>
                      </a:r>
                      <a:r>
                        <a:rPr lang="en-US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P16)</a:t>
                      </a:r>
                      <a:r>
                        <a:rPr lang="zh-CN" altLang="en-GB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必须体现复杂算法、数据库优化或并发处理。</a:t>
                      </a:r>
                      <a:endParaRPr lang="zh-CN" altLang="en-US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前端</a:t>
                      </a:r>
                      <a:r>
                        <a:rPr lang="en-US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P15)</a:t>
                      </a:r>
                      <a:r>
                        <a:rPr lang="zh-CN" altLang="en-GB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展示响应式布局、交互逻辑组件化。</a:t>
                      </a:r>
                      <a:endParaRPr lang="zh-CN" altLang="en-US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</a:t>
                      </a:r>
                      <a:r>
                        <a:rPr lang="en-US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P17)</a:t>
                      </a:r>
                      <a:r>
                        <a:rPr lang="zh-CN" altLang="en-GB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展示自动化脚本、压力测试报告。</a:t>
                      </a:r>
                      <a:endParaRPr lang="zh-CN" altLang="en-US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P13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00" dirty="0">
                          <a:effectLst/>
                          <a:latin typeface="+mn-lt"/>
                        </a:rPr>
                        <a:t>工匠精神与国家标准。</a:t>
                      </a:r>
                      <a:endParaRPr lang="zh-CN" altLang="en-US" sz="900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dirty="0">
                          <a:effectLst/>
                          <a:latin typeface="+mn-lt"/>
                          <a:ea typeface="黑体" panose="02010609060101010101" pitchFamily="49" charset="-122"/>
                        </a:rPr>
                        <a:t>证明你的技能是基于“行标”的，而非业余开发。</a:t>
                      </a:r>
                      <a:endParaRPr lang="zh-CN" altLang="en-US" sz="900" dirty="0"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职业素养 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(10%)</a:t>
                      </a:r>
                      <a:endParaRPr lang="zh-CN" altLang="en-US" sz="1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P06</a:t>
                      </a:r>
                      <a:r>
                        <a:rPr lang="zh-CN" altLang="en-US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P07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产教融合、合作探究</a:t>
                      </a:r>
                      <a:r>
                        <a:rPr lang="en-US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调研现场</a:t>
                      </a:r>
                      <a:r>
                        <a:rPr lang="en-US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产教融合</a:t>
                      </a:r>
                      <a:r>
                        <a:rPr lang="en-US" altLang="zh-CN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职业素养：</a:t>
                      </a:r>
                      <a:endParaRPr lang="zh-CN" altLang="en-US" sz="900" b="1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fontAlgn="t">
                        <a:buFont typeface="Arial" panose="020B0604020202090204" pitchFamily="34" charset="0"/>
                        <a:buChar char="•"/>
                      </a:pPr>
                      <a:r>
                        <a:rPr lang="en-GB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P07</a:t>
                      </a:r>
                      <a:r>
                        <a:rPr lang="zh-CN" altLang="en-GB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展示在企业调研的真实瞬间，体现从“学生”到“准职业人”的素养转变，强调对行业痛点的敏锐洞察。</a:t>
                      </a:r>
                      <a:endParaRPr lang="zh-CN" altLang="en-US" sz="900" dirty="0"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P10</a:t>
                      </a:r>
                      <a:r>
                        <a:rPr lang="zh-CN" altLang="en-US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P13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安全规范、全生命周期管理。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强调编码规范（如阿里巴巴规范）和版本控制（</a:t>
                      </a:r>
                      <a:r>
                        <a:rPr lang="en-GB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zh-CN" altLang="en-GB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）。</a:t>
                      </a:r>
                      <a:endParaRPr lang="zh-CN" altLang="en-US" sz="900" dirty="0"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应用价值 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(10%)</a:t>
                      </a:r>
                      <a:endParaRPr lang="zh-CN" altLang="en-US" sz="1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P03-P05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项目背景（时事、政策、市场）。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证明项目解决的是“真痛点”。数据必须真实有效，具有时效性。</a:t>
                      </a:r>
                      <a:endParaRPr lang="zh-CN" altLang="en-US" sz="900" dirty="0"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P20-P21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经济价值、社会价值、专利、协议。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补充点：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增加“促进高质量就业”内容。例如：团员因本项目获得的高级证书或知名企业录取意向。</a:t>
                      </a:r>
                      <a:endParaRPr lang="zh-CN" altLang="en-US" sz="900" dirty="0"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团队合作 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(10%)</a:t>
                      </a:r>
                      <a:endParaRPr lang="zh-CN" altLang="en-US" sz="1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P12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团队分工与协作。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注意事项：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评审看重“相互补台”。不要只放头像。 </a:t>
                      </a:r>
                      <a:endParaRPr lang="en-US" altLang="zh-CN" sz="9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zh-CN" altLang="en-US" sz="9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补强建议：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在岗位实操页（</a:t>
                      </a:r>
                      <a:r>
                        <a:rPr lang="en-GB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P14-P17</a:t>
                      </a:r>
                      <a:r>
                        <a:rPr lang="zh-CN" altLang="en-GB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标注“与</a:t>
                      </a:r>
                      <a:r>
                        <a:rPr lang="en-GB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岗位联调完成</a:t>
                      </a:r>
                      <a:r>
                        <a:rPr lang="en-GB" altLang="zh-C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功能”，体现动态协作。</a:t>
                      </a:r>
                      <a:endParaRPr lang="zh-CN" altLang="en-US" sz="900" dirty="0"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创新创意 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(10%)</a:t>
                      </a:r>
                      <a:endParaRPr lang="zh-CN" altLang="en-US" sz="1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900" b="1" dirty="0"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P18-P19</a:t>
                      </a:r>
                      <a:endParaRPr lang="zh-CN" altLang="en-US" sz="900" b="1" dirty="0">
                        <a:solidFill>
                          <a:schemeClr val="accent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技术应用创新、模式创新。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突出“针对性”。是为了解决前文提到的痛点而进行的定向改良。</a:t>
                      </a:r>
                      <a:endParaRPr lang="zh-CN" altLang="en-US" sz="900" dirty="0"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142875" marR="142875" marT="142875" marB="14287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-5689" y="1"/>
            <a:ext cx="12197689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4638" y="2851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>
                    <a:lumMod val="50000"/>
                  </a:schemeClr>
                </a:solidFill>
              </a:rPr>
              <a:t>--</a:t>
            </a:r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前言</a:t>
            </a:r>
            <a:endParaRPr kumimoji="1"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9799" y="520879"/>
            <a:ext cx="2877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kumimoji="1"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中常见的评分遗漏点</a:t>
            </a:r>
            <a:endParaRPr kumimoji="1"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3210" y="1423602"/>
            <a:ext cx="1524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评分点：团队协作 </a:t>
            </a:r>
            <a:r>
              <a:rPr kumimoji="1" lang="en-US" altLang="zh-CN" sz="11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endParaRPr kumimoji="1" lang="zh-CN" altLang="en-US" sz="110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3210" y="1754235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相互补台与突发应对</a:t>
            </a:r>
            <a:endParaRPr kumimoji="1" lang="zh-CN" altLang="en-US" sz="16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3211" y="2215820"/>
            <a:ext cx="2827606" cy="117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FFC000"/>
                </a:solidFill>
              </a:rPr>
              <a:t>问题：</a:t>
            </a:r>
            <a:r>
              <a:rPr kumimoji="1" lang="zh-CN" altLang="en-US" sz="1200" dirty="0">
                <a:solidFill>
                  <a:schemeClr val="bg1"/>
                </a:solidFill>
              </a:rPr>
              <a:t>多数队伍只展示团队分工。</a:t>
            </a:r>
            <a:endParaRPr kumimoji="1" lang="en-US" altLang="zh-CN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FFC000"/>
                </a:solidFill>
              </a:rPr>
              <a:t>方案：</a:t>
            </a:r>
            <a:r>
              <a:rPr kumimoji="1" lang="zh-CN" altLang="en-US" sz="1200" dirty="0">
                <a:solidFill>
                  <a:schemeClr val="bg1"/>
                </a:solidFill>
              </a:rPr>
              <a:t>增加一页“联合攻关录”，描述一次突发的技术</a:t>
            </a:r>
            <a:r>
              <a:rPr kumimoji="1" lang="en-US" altLang="zh-CN" sz="1200" dirty="0">
                <a:solidFill>
                  <a:schemeClr val="bg1"/>
                </a:solidFill>
              </a:rPr>
              <a:t>Bug</a:t>
            </a:r>
            <a:r>
              <a:rPr kumimoji="1" lang="zh-CN" altLang="en-US" sz="1200" dirty="0">
                <a:solidFill>
                  <a:schemeClr val="bg1"/>
                </a:solidFill>
              </a:rPr>
              <a:t>或演示异常，团队成员如何叉补位解决。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32356" y="1139471"/>
            <a:ext cx="2918565" cy="2457573"/>
          </a:xfrm>
          <a:prstGeom prst="roundRect">
            <a:avLst>
              <a:gd name="adj" fmla="val 7065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677573" y="1423602"/>
            <a:ext cx="1524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评分点：应用价值 </a:t>
            </a:r>
            <a:r>
              <a:rPr kumimoji="1" lang="en-US" altLang="zh-CN" sz="11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kumimoji="1" lang="en-US" altLang="zh-CN" sz="110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77573" y="1754235"/>
            <a:ext cx="16321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高质量就业成效</a:t>
            </a:r>
            <a:endParaRPr kumimoji="1" lang="zh-CN" altLang="en-US" sz="16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77574" y="2215820"/>
            <a:ext cx="2827606" cy="117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FFC000"/>
                </a:solidFill>
              </a:rPr>
              <a:t>问题：</a:t>
            </a:r>
            <a:r>
              <a:rPr kumimoji="1" lang="zh-CN" altLang="en-US" sz="1200" dirty="0">
                <a:solidFill>
                  <a:schemeClr val="bg1"/>
                </a:solidFill>
              </a:rPr>
              <a:t>只谈产品价值。</a:t>
            </a:r>
            <a:endParaRPr kumimoji="1" lang="en-US" altLang="zh-CN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FFC000"/>
                </a:solidFill>
              </a:rPr>
              <a:t>方案：</a:t>
            </a:r>
            <a:r>
              <a:rPr kumimoji="1" lang="zh-CN" altLang="en-US" sz="1200" dirty="0">
                <a:solidFill>
                  <a:schemeClr val="bg1"/>
                </a:solidFill>
              </a:rPr>
              <a:t>罗列团队成员获得的技能等级证、知名企业</a:t>
            </a:r>
            <a:r>
              <a:rPr kumimoji="1" lang="en-GB" altLang="zh-CN" sz="1200" dirty="0">
                <a:solidFill>
                  <a:schemeClr val="bg1"/>
                </a:solidFill>
              </a:rPr>
              <a:t>Offer</a:t>
            </a:r>
            <a:r>
              <a:rPr kumimoji="1" lang="zh-CN" altLang="en-US" sz="1200" dirty="0">
                <a:solidFill>
                  <a:schemeClr val="bg1"/>
                </a:solidFill>
              </a:rPr>
              <a:t>或参赛后的职业生涯规划路径。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636719" y="1139471"/>
            <a:ext cx="2918565" cy="2457573"/>
          </a:xfrm>
          <a:prstGeom prst="roundRect">
            <a:avLst>
              <a:gd name="adj" fmla="val 7065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781935" y="1417873"/>
            <a:ext cx="1524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评分点：应用价值 </a:t>
            </a:r>
            <a:r>
              <a:rPr kumimoji="1" lang="en-US" altLang="zh-CN" sz="11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</a:t>
            </a:r>
            <a:endParaRPr kumimoji="1" lang="en-US" altLang="zh-CN" sz="110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781935" y="1748506"/>
            <a:ext cx="16321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可持续发展理念</a:t>
            </a:r>
            <a:endParaRPr kumimoji="1" lang="zh-CN" altLang="en-US" sz="16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781936" y="2210091"/>
            <a:ext cx="2827606" cy="117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FFC000"/>
                </a:solidFill>
              </a:rPr>
              <a:t>问题：</a:t>
            </a:r>
            <a:r>
              <a:rPr kumimoji="1" lang="zh-CN" altLang="en-US" sz="1200" dirty="0">
                <a:solidFill>
                  <a:schemeClr val="bg1"/>
                </a:solidFill>
              </a:rPr>
              <a:t>缺乏社会责任描述。</a:t>
            </a:r>
            <a:endParaRPr kumimoji="1" lang="en-US" altLang="zh-CN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FFC000"/>
                </a:solidFill>
              </a:rPr>
              <a:t>方案：</a:t>
            </a:r>
            <a:r>
              <a:rPr kumimoji="1" lang="zh-CN" altLang="en-US" sz="1200" dirty="0">
                <a:solidFill>
                  <a:schemeClr val="bg1"/>
                </a:solidFill>
              </a:rPr>
              <a:t>说明项目如何节能降耗、如何利用数字化减少纸张，或在民生服务中如何改善老年人</a:t>
            </a:r>
            <a:r>
              <a:rPr kumimoji="1" lang="en-US" altLang="zh-CN" sz="1200" dirty="0">
                <a:solidFill>
                  <a:schemeClr val="bg1"/>
                </a:solidFill>
              </a:rPr>
              <a:t>/</a:t>
            </a:r>
            <a:r>
              <a:rPr kumimoji="1" lang="zh-CN" altLang="en-US" sz="1200" dirty="0">
                <a:solidFill>
                  <a:schemeClr val="bg1"/>
                </a:solidFill>
              </a:rPr>
              <a:t>弱势群体生活质量。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741081" y="1133742"/>
            <a:ext cx="2918565" cy="2457573"/>
          </a:xfrm>
          <a:prstGeom prst="roundRect">
            <a:avLst>
              <a:gd name="adj" fmla="val 7065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59799" y="4580448"/>
            <a:ext cx="4314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呈现时的注意事项（能力导向原则）</a:t>
            </a:r>
            <a:endParaRPr kumimoji="1"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84851" y="5136663"/>
            <a:ext cx="19287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C000"/>
                </a:solidFill>
              </a:rPr>
              <a:t>务必做到的“三多三少”</a:t>
            </a:r>
            <a:endParaRPr kumimoji="1"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32354" y="5471688"/>
            <a:ext cx="3281668" cy="895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</a:rPr>
              <a:t>多</a:t>
            </a:r>
            <a:r>
              <a:rPr kumimoji="1" lang="zh-CN" altLang="en-US" sz="1200" dirty="0">
                <a:solidFill>
                  <a:schemeClr val="bg1"/>
                </a:solidFill>
              </a:rPr>
              <a:t>架构图与代码规范截图，</a:t>
            </a:r>
            <a:r>
              <a:rPr kumimoji="1" lang="zh-CN" altLang="en-US" sz="1200" b="1" dirty="0">
                <a:solidFill>
                  <a:srgbClr val="FFC000"/>
                </a:solidFill>
              </a:rPr>
              <a:t>少</a:t>
            </a:r>
            <a:r>
              <a:rPr kumimoji="1" lang="zh-CN" altLang="en-US" sz="1200" dirty="0">
                <a:solidFill>
                  <a:schemeClr val="bg1"/>
                </a:solidFill>
              </a:rPr>
              <a:t>全景大头贴。</a:t>
            </a:r>
            <a:endParaRPr kumimoji="1" lang="en-US" altLang="zh-CN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</a:rPr>
              <a:t>多</a:t>
            </a:r>
            <a:r>
              <a:rPr kumimoji="1" lang="zh-CN" altLang="en-US" sz="1200" dirty="0">
                <a:solidFill>
                  <a:schemeClr val="bg1"/>
                </a:solidFill>
              </a:rPr>
              <a:t>优化前后对比数据，</a:t>
            </a:r>
            <a:r>
              <a:rPr kumimoji="1" lang="zh-CN" altLang="en-US" sz="1200" b="1" dirty="0">
                <a:solidFill>
                  <a:srgbClr val="FFC000"/>
                </a:solidFill>
              </a:rPr>
              <a:t>少</a:t>
            </a:r>
            <a:r>
              <a:rPr kumimoji="1" lang="zh-CN" altLang="en-US" sz="1200" dirty="0">
                <a:solidFill>
                  <a:schemeClr val="bg1"/>
                </a:solidFill>
              </a:rPr>
              <a:t>形容词堆砌。</a:t>
            </a:r>
            <a:endParaRPr kumimoji="1" lang="en-US" altLang="zh-CN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</a:rPr>
              <a:t>多</a:t>
            </a:r>
            <a:r>
              <a:rPr kumimoji="1" lang="zh-CN" altLang="en-US" sz="1200" dirty="0">
                <a:solidFill>
                  <a:schemeClr val="bg1"/>
                </a:solidFill>
              </a:rPr>
              <a:t>行业标准引用，</a:t>
            </a:r>
            <a:r>
              <a:rPr kumimoji="1" lang="zh-CN" altLang="en-US" sz="1200" b="1" dirty="0">
                <a:solidFill>
                  <a:srgbClr val="FFC000"/>
                </a:solidFill>
              </a:rPr>
              <a:t>少</a:t>
            </a:r>
            <a:r>
              <a:rPr kumimoji="1" lang="zh-CN" altLang="en-US" sz="1200" dirty="0">
                <a:solidFill>
                  <a:schemeClr val="bg1"/>
                </a:solidFill>
              </a:rPr>
              <a:t>“我觉得”式论述。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99332" y="5259929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⚠️</a:t>
            </a:r>
            <a:r>
              <a:rPr kumimoji="1" lang="zh-CN" altLang="en-US" sz="14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特别提醒：</a:t>
            </a:r>
            <a:r>
              <a:rPr kumimoji="1" lang="en-US" altLang="zh-CN" sz="14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60%</a:t>
            </a:r>
            <a:r>
              <a:rPr kumimoji="1" lang="zh-CN" altLang="en-US" sz="14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权重的技能</a:t>
            </a:r>
            <a:endParaRPr kumimoji="1" lang="zh-CN" altLang="en-US" sz="140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499332" y="5526999"/>
            <a:ext cx="7160314" cy="56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新赛制下，评委更看重“</a:t>
            </a:r>
            <a:r>
              <a:rPr kumimoji="1" lang="zh-CN" altLang="en-US" sz="11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你解决的是什么复杂问题</a:t>
            </a:r>
            <a:r>
              <a:rPr kumimoji="1" lang="zh-CN" altLang="en-US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”。在 </a:t>
            </a:r>
            <a:r>
              <a:rPr kumimoji="1" lang="en-GB" altLang="zh-CN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 </a:t>
            </a:r>
            <a:r>
              <a:rPr kumimoji="1" lang="zh-CN" altLang="en-US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岗位实施环节，不要单纯说“我做了什么功能”，而要说“这个功能的业务逻辑很复杂，我通过</a:t>
            </a:r>
            <a:r>
              <a:rPr kumimoji="1" lang="en-GB" altLang="zh-CN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</a:t>
            </a:r>
            <a:r>
              <a:rPr kumimoji="1" lang="zh-CN" altLang="en-US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算法解决了</a:t>
            </a:r>
            <a:r>
              <a:rPr kumimoji="1" lang="en-GB" altLang="zh-CN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</a:t>
            </a:r>
            <a:r>
              <a:rPr kumimoji="1" lang="zh-CN" altLang="en-US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问题，比传统方案效率提升了</a:t>
            </a:r>
            <a:r>
              <a:rPr kumimoji="1" lang="en-GB" altLang="zh-CN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XX%”</a:t>
            </a:r>
            <a:r>
              <a:rPr kumimoji="1" lang="zh-CN" altLang="en-GB" sz="1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11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99332" y="6135179"/>
            <a:ext cx="30348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>
                <a:solidFill>
                  <a:schemeClr val="bg1"/>
                </a:solidFill>
              </a:rPr>
              <a:t>*注：所有提到的企业名称和团队信息必须进行脱敏</a:t>
            </a:r>
            <a:r>
              <a:rPr kumimoji="1" lang="en-US" altLang="zh-CN" sz="800" dirty="0">
                <a:solidFill>
                  <a:schemeClr val="bg1"/>
                </a:solidFill>
              </a:rPr>
              <a:t>/</a:t>
            </a:r>
            <a:r>
              <a:rPr kumimoji="1" lang="zh-CN" altLang="en-US" sz="800" dirty="0">
                <a:solidFill>
                  <a:schemeClr val="bg1"/>
                </a:solidFill>
              </a:rPr>
              <a:t>匿名处理。</a:t>
            </a:r>
            <a:endParaRPr kumimoji="1"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4499332" y="5205772"/>
            <a:ext cx="7160314" cy="1216408"/>
          </a:xfrm>
          <a:prstGeom prst="roundRect">
            <a:avLst>
              <a:gd name="adj" fmla="val 7065"/>
            </a:avLst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41888" y="969817"/>
            <a:ext cx="5030552" cy="227214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kumimoji="1" lang="zh-CN" altLang="en-US" sz="4800" b="1" dirty="0">
                <a:solidFill>
                  <a:schemeClr val="tx1"/>
                </a:solidFill>
              </a:rPr>
              <a:t>路演</a:t>
            </a:r>
            <a:r>
              <a:rPr kumimoji="1" lang="en-US" altLang="zh-CN" sz="4800" b="1" dirty="0">
                <a:solidFill>
                  <a:schemeClr val="tx1"/>
                </a:solidFill>
              </a:rPr>
              <a:t>PPT</a:t>
            </a:r>
            <a:r>
              <a:rPr kumimoji="1" lang="zh-CN" altLang="en-US" sz="4800" b="1" dirty="0">
                <a:solidFill>
                  <a:schemeClr val="tx1"/>
                </a:solidFill>
              </a:rPr>
              <a:t>标题</a:t>
            </a:r>
            <a:endParaRPr kumimoji="1" lang="zh-CN" altLang="en-US" sz="4800" b="1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41888" y="1163785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accent2"/>
                </a:solidFill>
              </a:rPr>
              <a:t>名称组合建议：核心功能</a:t>
            </a:r>
            <a:r>
              <a:rPr kumimoji="1" lang="en-US" altLang="zh-CN" sz="1400" dirty="0">
                <a:solidFill>
                  <a:schemeClr val="accent2"/>
                </a:solidFill>
              </a:rPr>
              <a:t>+</a:t>
            </a:r>
            <a:r>
              <a:rPr kumimoji="1" lang="zh-CN" altLang="en-US" sz="1400" dirty="0">
                <a:solidFill>
                  <a:schemeClr val="accent2"/>
                </a:solidFill>
              </a:rPr>
              <a:t>方式</a:t>
            </a:r>
            <a:r>
              <a:rPr kumimoji="1" lang="en-US" altLang="zh-CN" sz="1400" dirty="0">
                <a:solidFill>
                  <a:schemeClr val="accent2"/>
                </a:solidFill>
              </a:rPr>
              <a:t>+</a:t>
            </a:r>
            <a:r>
              <a:rPr kumimoji="1" lang="zh-CN" altLang="en-US" sz="1400" dirty="0">
                <a:solidFill>
                  <a:schemeClr val="accent2"/>
                </a:solidFill>
              </a:rPr>
              <a:t>对象</a:t>
            </a:r>
            <a:endParaRPr kumimoji="1" lang="en-US" altLang="zh-CN" sz="1400" dirty="0">
              <a:solidFill>
                <a:schemeClr val="accent2"/>
              </a:solidFill>
            </a:endParaRPr>
          </a:p>
          <a:p>
            <a:r>
              <a:rPr kumimoji="1" lang="zh-CN" altLang="en-US" sz="1400" dirty="0">
                <a:solidFill>
                  <a:schemeClr val="accent2"/>
                </a:solidFill>
              </a:rPr>
              <a:t>如：</a:t>
            </a:r>
            <a:r>
              <a:rPr kumimoji="1" lang="en-US" altLang="zh-CN" sz="1400" dirty="0">
                <a:solidFill>
                  <a:schemeClr val="accent2"/>
                </a:solidFill>
              </a:rPr>
              <a:t>AI</a:t>
            </a:r>
            <a:r>
              <a:rPr kumimoji="1" lang="zh-CN" altLang="en-US" sz="1400" dirty="0">
                <a:solidFill>
                  <a:schemeClr val="accent2"/>
                </a:solidFill>
              </a:rPr>
              <a:t> 智能护理 老人  </a:t>
            </a:r>
            <a:r>
              <a:rPr kumimoji="1" lang="en-US" altLang="zh-CN" sz="1400" dirty="0">
                <a:solidFill>
                  <a:schemeClr val="accent2"/>
                </a:solidFill>
              </a:rPr>
              <a:t>--&gt;</a:t>
            </a:r>
            <a:r>
              <a:rPr kumimoji="1" lang="zh-CN" altLang="en-US" sz="1400" dirty="0">
                <a:solidFill>
                  <a:schemeClr val="accent2"/>
                </a:solidFill>
              </a:rPr>
              <a:t>  </a:t>
            </a:r>
            <a:r>
              <a:rPr kumimoji="1" lang="en-US" altLang="zh-CN" sz="1400" dirty="0">
                <a:solidFill>
                  <a:schemeClr val="accent2"/>
                </a:solidFill>
              </a:rPr>
              <a:t>AI</a:t>
            </a:r>
            <a:r>
              <a:rPr kumimoji="1" lang="zh-CN" altLang="en-US" sz="1400" dirty="0">
                <a:solidFill>
                  <a:schemeClr val="accent2"/>
                </a:solidFill>
              </a:rPr>
              <a:t>智护银龄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9597" y="831273"/>
            <a:ext cx="7442378" cy="275705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41888" y="2646218"/>
            <a:ext cx="1733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b="1" dirty="0"/>
              <a:t>PPT</a:t>
            </a:r>
            <a:r>
              <a:rPr kumimoji="1" lang="zh-CN" altLang="en-US" b="1" dirty="0"/>
              <a:t>副标题</a:t>
            </a:r>
            <a:endParaRPr kumimoji="1"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441887" y="2936740"/>
            <a:ext cx="2997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accent2"/>
                </a:solidFill>
              </a:rPr>
              <a:t>描述对应项目的具体应用范围</a:t>
            </a:r>
            <a:r>
              <a:rPr kumimoji="1" lang="en-US" altLang="zh-CN" sz="1400" dirty="0">
                <a:solidFill>
                  <a:schemeClr val="accent2"/>
                </a:solidFill>
              </a:rPr>
              <a:t>+</a:t>
            </a:r>
            <a:r>
              <a:rPr kumimoji="1" lang="zh-CN" altLang="en-US" sz="1400" dirty="0">
                <a:solidFill>
                  <a:schemeClr val="accent2"/>
                </a:solidFill>
              </a:rPr>
              <a:t>功能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88036" y="831272"/>
            <a:ext cx="3554367" cy="525087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411221" y="296487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配图</a:t>
            </a:r>
            <a:endParaRPr kumimoji="1" lang="zh-CN" altLang="en-US" sz="36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8705900" y="3713018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符合项目主题的配图</a:t>
            </a:r>
            <a:endParaRPr kumimoji="1" lang="en-US" altLang="zh-CN" sz="1400" dirty="0">
              <a:solidFill>
                <a:schemeClr val="accent2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（最好是带有自身项目图片）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 flipV="1">
            <a:off x="449597" y="5121017"/>
            <a:ext cx="4870548" cy="96112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24222" y="52924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团队名称</a:t>
            </a:r>
            <a:endParaRPr kumimoji="1" lang="zh-CN" altLang="en-US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1424222" y="5580406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团队起的代号（不能出现真实名称）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01</a:t>
            </a:r>
            <a:endParaRPr kumimoji="1" lang="zh-CN" altLang="en-US" sz="1400" dirty="0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211665" y="4047914"/>
            <a:ext cx="2458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>
                    <a:lumMod val="95000"/>
                  </a:schemeClr>
                </a:solidFill>
              </a:rPr>
              <a:t>背景图</a:t>
            </a:r>
            <a:endParaRPr kumimoji="1" lang="zh-CN" altLang="en-US" sz="44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49599" y="1738323"/>
            <a:ext cx="5646401" cy="457423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33031" y="1985935"/>
            <a:ext cx="400110" cy="40779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kumimoji="1" lang="zh-CN" altLang="en-US" sz="1400" dirty="0">
                <a:solidFill>
                  <a:schemeClr val="accent2"/>
                </a:solidFill>
              </a:rPr>
              <a:t>标准项目路演流程（具体可根据自身情况修改）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02</a:t>
            </a:r>
            <a:endParaRPr kumimoji="1" lang="zh-CN" altLang="en-US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952347" y="66501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目录</a:t>
            </a:r>
            <a:endParaRPr kumimoji="1" lang="zh-CN" altLang="en-US" sz="3600" b="1" dirty="0"/>
          </a:p>
        </p:txBody>
      </p:sp>
      <p:sp>
        <p:nvSpPr>
          <p:cNvPr id="12" name="矩形 11"/>
          <p:cNvSpPr/>
          <p:nvPr/>
        </p:nvSpPr>
        <p:spPr>
          <a:xfrm>
            <a:off x="449598" y="475160"/>
            <a:ext cx="5646402" cy="10733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39086" y="1941830"/>
            <a:ext cx="2331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01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/</a:t>
            </a:r>
            <a:r>
              <a:rPr kumimoji="1" lang="zh-CN" altLang="en-US" sz="2800" dirty="0"/>
              <a:t> 项目背景</a:t>
            </a:r>
            <a:endParaRPr kumimoji="1" lang="zh-CN" altLang="en-US" sz="2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039087" y="2852565"/>
            <a:ext cx="2331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02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/</a:t>
            </a:r>
            <a:r>
              <a:rPr kumimoji="1" lang="zh-CN" altLang="en-US" sz="2800" dirty="0"/>
              <a:t> 研发历程</a:t>
            </a:r>
            <a:endParaRPr kumimoji="1"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039087" y="3763300"/>
            <a:ext cx="2331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03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/</a:t>
            </a:r>
            <a:r>
              <a:rPr kumimoji="1" lang="zh-CN" altLang="en-US" sz="2800" dirty="0"/>
              <a:t> 实施过程</a:t>
            </a:r>
            <a:endParaRPr kumimoji="1" lang="zh-CN" altLang="en-US" sz="28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039087" y="4674035"/>
            <a:ext cx="2331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04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/</a:t>
            </a:r>
            <a:r>
              <a:rPr kumimoji="1" lang="zh-CN" altLang="en-US" sz="2800" dirty="0"/>
              <a:t> 创新设计</a:t>
            </a:r>
            <a:endParaRPr kumimoji="1" lang="zh-CN" altLang="en-US" sz="28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039087" y="5584771"/>
            <a:ext cx="2331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05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/</a:t>
            </a:r>
            <a:r>
              <a:rPr kumimoji="1" lang="zh-CN" altLang="en-US" sz="2800" dirty="0"/>
              <a:t> 应用价值</a:t>
            </a:r>
            <a:endParaRPr kumimoji="1" lang="zh-CN" altLang="en-US" sz="2800" dirty="0"/>
          </a:p>
        </p:txBody>
      </p:sp>
      <p:sp>
        <p:nvSpPr>
          <p:cNvPr id="18" name="矩形 17"/>
          <p:cNvSpPr/>
          <p:nvPr/>
        </p:nvSpPr>
        <p:spPr>
          <a:xfrm>
            <a:off x="449598" y="475160"/>
            <a:ext cx="11292805" cy="583739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365203" y="254478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配图</a:t>
            </a:r>
            <a:endParaRPr kumimoji="1" lang="zh-CN" altLang="en-US" sz="36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59882" y="3292932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符合项目主题的配图</a:t>
            </a:r>
            <a:endParaRPr kumimoji="1" lang="en-US" altLang="zh-CN" sz="1400" dirty="0">
              <a:solidFill>
                <a:schemeClr val="accent2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（最好是带有自身项目图片）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01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项目背景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/>
          <p:cNvCxnSpPr/>
          <p:nvPr/>
        </p:nvCxnSpPr>
        <p:spPr>
          <a:xfrm>
            <a:off x="883269" y="1779882"/>
            <a:ext cx="0" cy="395265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 flipV="1">
            <a:off x="826046" y="1706997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826046" y="3763426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/>
        </p:nvSpPr>
        <p:spPr>
          <a:xfrm flipV="1">
            <a:off x="826046" y="5724814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7612" y="159521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时事新闻</a:t>
            </a:r>
            <a:endParaRPr kumimoji="1"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27612" y="362686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政策背景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7612" y="55820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市场考察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7612" y="19953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有时事</a:t>
            </a:r>
            <a:endParaRPr kumimoji="1"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027612" y="399619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有政策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27612" y="59821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有市场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81531" y="32314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配图</a:t>
            </a:r>
            <a:endParaRPr kumimoji="1" lang="zh-CN" altLang="en-US" sz="36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7035288" y="3979637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具体的时事新闻图文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732668" y="1432207"/>
            <a:ext cx="8009735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03</a:t>
            </a:r>
            <a:endParaRPr kumimoji="1" lang="zh-CN" altLang="en-US" sz="1400" dirty="0"/>
          </a:p>
        </p:txBody>
      </p:sp>
      <p:sp>
        <p:nvSpPr>
          <p:cNvPr id="20" name="矩形 19"/>
          <p:cNvSpPr/>
          <p:nvPr/>
        </p:nvSpPr>
        <p:spPr>
          <a:xfrm>
            <a:off x="445982" y="1432207"/>
            <a:ext cx="3045364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得分点：应用价值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01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项目背景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883269" y="1779882"/>
            <a:ext cx="0" cy="395265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 flipV="1">
            <a:off x="826046" y="1706997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 flipV="1">
            <a:off x="826046" y="3763426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826046" y="5724814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7612" y="159521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时事新闻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7612" y="362686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政策背景</a:t>
            </a:r>
            <a:endParaRPr kumimoji="1"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27612" y="55820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市场考察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7612" y="19953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有时事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7612" y="399619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有政策</a:t>
            </a:r>
            <a:endParaRPr kumimoji="1"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027612" y="59821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有市场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42379" y="433128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配图</a:t>
            </a:r>
            <a:endParaRPr kumimoji="1" lang="zh-CN" altLang="en-US" sz="36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796139" y="5079430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具体的政策文件图片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32668" y="1432207"/>
            <a:ext cx="8009735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04</a:t>
            </a:r>
            <a:endParaRPr kumimoji="1"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445982" y="1432207"/>
            <a:ext cx="3045364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251847" y="2416494"/>
            <a:ext cx="6971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accent2"/>
                </a:solidFill>
              </a:rPr>
              <a:t>描述出政策主要目的，为了解决</a:t>
            </a:r>
            <a:r>
              <a:rPr kumimoji="1" lang="en-US" altLang="zh-CN" sz="1400" dirty="0">
                <a:solidFill>
                  <a:schemeClr val="accent2"/>
                </a:solidFill>
              </a:rPr>
              <a:t>/</a:t>
            </a:r>
            <a:r>
              <a:rPr kumimoji="1" lang="zh-CN" altLang="en-US" sz="1400" dirty="0">
                <a:solidFill>
                  <a:schemeClr val="accent2"/>
                </a:solidFill>
              </a:rPr>
              <a:t>应对</a:t>
            </a:r>
            <a:r>
              <a:rPr kumimoji="1" lang="en-US" altLang="zh-CN" sz="1400" dirty="0">
                <a:solidFill>
                  <a:schemeClr val="accent2"/>
                </a:solidFill>
              </a:rPr>
              <a:t>/</a:t>
            </a:r>
            <a:r>
              <a:rPr kumimoji="1" lang="zh-CN" altLang="en-US" sz="1400" dirty="0">
                <a:solidFill>
                  <a:schemeClr val="accent2"/>
                </a:solidFill>
              </a:rPr>
              <a:t>披露什么事情。要有具体的数据支撑（如：我国 </a:t>
            </a:r>
            <a:r>
              <a:rPr kumimoji="1" lang="en-US" altLang="zh-CN" sz="1400" dirty="0">
                <a:solidFill>
                  <a:schemeClr val="accent2"/>
                </a:solidFill>
              </a:rPr>
              <a:t>60 </a:t>
            </a:r>
            <a:r>
              <a:rPr kumimoji="1" lang="zh-CN" altLang="en-US" sz="1400" dirty="0">
                <a:solidFill>
                  <a:schemeClr val="accent2"/>
                </a:solidFill>
              </a:rPr>
              <a:t>岁以上独居老人已达 </a:t>
            </a:r>
            <a:r>
              <a:rPr kumimoji="1" lang="en-US" altLang="zh-CN" sz="1400" dirty="0">
                <a:solidFill>
                  <a:schemeClr val="accent2"/>
                </a:solidFill>
              </a:rPr>
              <a:t>1.3 </a:t>
            </a:r>
            <a:r>
              <a:rPr kumimoji="1" lang="zh-CN" altLang="en-US" sz="1400" dirty="0">
                <a:solidFill>
                  <a:schemeClr val="accent2"/>
                </a:solidFill>
              </a:rPr>
              <a:t>亿，而跌倒已成为 </a:t>
            </a:r>
            <a:r>
              <a:rPr kumimoji="1" lang="en-US" altLang="zh-CN" sz="1400" dirty="0">
                <a:solidFill>
                  <a:schemeClr val="accent2"/>
                </a:solidFill>
              </a:rPr>
              <a:t>65 </a:t>
            </a:r>
            <a:r>
              <a:rPr kumimoji="1" lang="zh-CN" altLang="en-US" sz="1400" dirty="0">
                <a:solidFill>
                  <a:schemeClr val="accent2"/>
                </a:solidFill>
              </a:rPr>
              <a:t>岁以上老人首位伤害死因（数据可视化图）；</a:t>
            </a:r>
            <a:endParaRPr kumimoji="1" lang="zh-CN" altLang="en-US" sz="1400" dirty="0">
              <a:solidFill>
                <a:schemeClr val="accent2"/>
              </a:solidFill>
            </a:endParaRPr>
          </a:p>
          <a:p>
            <a:r>
              <a:rPr kumimoji="1" lang="zh-CN" altLang="en-US" sz="1400" dirty="0">
                <a:solidFill>
                  <a:schemeClr val="accent2"/>
                </a:solidFill>
              </a:rPr>
              <a:t>为此，我们启动了本项目的研发。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086634" y="1782475"/>
            <a:ext cx="7279320" cy="184439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571190" y="1938944"/>
            <a:ext cx="233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引出开发项目的起因</a:t>
            </a:r>
            <a:endParaRPr kumimoji="1"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得分点：应用价值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01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项目背景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883269" y="1779882"/>
            <a:ext cx="0" cy="395265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 flipV="1">
            <a:off x="826046" y="1706997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 flipV="1">
            <a:off x="826046" y="3763426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826046" y="5724814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7612" y="159521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时事新闻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7612" y="362686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政策背景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7612" y="55820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市场考察</a:t>
            </a:r>
            <a:endParaRPr kumimoji="1" lang="zh-CN" altLang="en-US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027612" y="19953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有时事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7612" y="399619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有政策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7612" y="59821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有市场</a:t>
            </a:r>
            <a:endParaRPr kumimoji="1"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297125" y="452615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配图</a:t>
            </a:r>
            <a:endParaRPr kumimoji="1" lang="zh-CN" altLang="en-US" sz="36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982146" y="5274302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数据表</a:t>
            </a:r>
            <a:r>
              <a:rPr kumimoji="1" lang="en-US" altLang="zh-CN" sz="1400" dirty="0">
                <a:solidFill>
                  <a:schemeClr val="accent2"/>
                </a:solidFill>
              </a:rPr>
              <a:t>/</a:t>
            </a:r>
            <a:r>
              <a:rPr kumimoji="1" lang="zh-CN" altLang="en-US" sz="1400" dirty="0">
                <a:solidFill>
                  <a:schemeClr val="accent2"/>
                </a:solidFill>
              </a:rPr>
              <a:t>对比图 等等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32668" y="1432207"/>
            <a:ext cx="8009735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05</a:t>
            </a:r>
            <a:endParaRPr kumimoji="1"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445982" y="1432207"/>
            <a:ext cx="3045364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703187" y="1933771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结合配图内容，总结出考察数据后的核心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080397" y="2331843"/>
            <a:ext cx="5314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重点数据要着重展示，文字或图要直观的能看到市场需求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86634" y="1782475"/>
            <a:ext cx="7279320" cy="10451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得分点：应用价值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883269" y="1779882"/>
            <a:ext cx="0" cy="395265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 flipV="1">
            <a:off x="826046" y="1706997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 flipV="1">
            <a:off x="826046" y="4385541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826046" y="5724814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7612" y="159521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产教融合</a:t>
            </a:r>
            <a:endParaRPr kumimoji="1" lang="zh-CN" altLang="en-US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27612" y="42335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问题策略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7612" y="55820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技术架构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7612" y="19953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有能力</a:t>
            </a:r>
            <a:endParaRPr kumimoji="1"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027612" y="460291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有策略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7612" y="59821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有架构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97125" y="452615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配图</a:t>
            </a:r>
            <a:endParaRPr kumimoji="1" lang="zh-CN" altLang="en-US" sz="36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468391" y="5274302"/>
            <a:ext cx="2765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校企合作图片</a:t>
            </a:r>
            <a:r>
              <a:rPr kumimoji="1" lang="en-US" altLang="zh-CN" sz="1400" dirty="0">
                <a:solidFill>
                  <a:schemeClr val="accent2"/>
                </a:solidFill>
              </a:rPr>
              <a:t>/</a:t>
            </a:r>
            <a:r>
              <a:rPr kumimoji="1" lang="zh-CN" altLang="en-US" sz="1400" dirty="0">
                <a:solidFill>
                  <a:schemeClr val="accent2"/>
                </a:solidFill>
              </a:rPr>
              <a:t>企业联合合作图片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32668" y="1432207"/>
            <a:ext cx="8009735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06</a:t>
            </a:r>
            <a:endParaRPr kumimoji="1"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445982" y="1432207"/>
            <a:ext cx="3045364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855837" y="1933771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突出学校的能力，如重点实验室、双师型教师团队等等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753245" y="2331843"/>
            <a:ext cx="5929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图文结合的形式，文字着重体现学校能力水平，能体现产教融合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86634" y="1782475"/>
            <a:ext cx="7279320" cy="10451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/>
          <p:cNvSpPr/>
          <p:nvPr/>
        </p:nvSpPr>
        <p:spPr>
          <a:xfrm flipV="1">
            <a:off x="826046" y="3046269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27612" y="289095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合作探究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27612" y="32602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有探索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得分点：职业素养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883269" y="1779882"/>
            <a:ext cx="0" cy="395265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 flipV="1">
            <a:off x="826046" y="1706997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 flipV="1">
            <a:off x="826046" y="4385541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826046" y="5724814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7612" y="159521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产教融合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7612" y="42335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问题策略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7612" y="55820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技术架构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7612" y="19953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有能力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7612" y="460291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有策略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7612" y="59821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有架构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97125" y="452615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配图</a:t>
            </a:r>
            <a:endParaRPr kumimoji="1" lang="zh-CN" altLang="en-US" sz="36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681601" y="5274302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着重展示各种调研现场图片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32668" y="1432207"/>
            <a:ext cx="8009735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07</a:t>
            </a:r>
            <a:endParaRPr kumimoji="1"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445982" y="1432207"/>
            <a:ext cx="3045364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835460" y="193377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调研核心数据展示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753246" y="2331843"/>
            <a:ext cx="6063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图文结合的形式，文字着重体现调研的数据，核心是在企业合作过程中，调研了什么，具体数据是什么。然后梳理出了什么问题，最终提炼出了哪些痛点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86634" y="1782475"/>
            <a:ext cx="7279320" cy="150859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/>
          <p:cNvSpPr/>
          <p:nvPr/>
        </p:nvSpPr>
        <p:spPr>
          <a:xfrm flipV="1">
            <a:off x="826046" y="3046269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27612" y="289095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合作探究</a:t>
            </a:r>
            <a:endParaRPr kumimoji="1" lang="zh-CN" altLang="en-US" sz="20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1027612" y="32602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有探索</a:t>
            </a:r>
            <a:endParaRPr kumimoji="1" lang="zh-CN" altLang="en-US" sz="1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得分点：职业素养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883269" y="1779882"/>
            <a:ext cx="0" cy="395265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 flipV="1">
            <a:off x="826046" y="1706997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 flipV="1">
            <a:off x="826046" y="4385541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826046" y="5724814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7612" y="159521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产教融合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7612" y="42335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问题策略</a:t>
            </a:r>
            <a:endParaRPr kumimoji="1"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27612" y="55820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技术架构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7612" y="19953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有能力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7612" y="460291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有策略</a:t>
            </a:r>
            <a:endParaRPr kumimoji="1"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027612" y="59821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有架构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32668" y="1432207"/>
            <a:ext cx="8009735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08</a:t>
            </a:r>
            <a:endParaRPr kumimoji="1"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445982" y="1432207"/>
            <a:ext cx="3045364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638017" y="1933771"/>
            <a:ext cx="4426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当前市场</a:t>
            </a:r>
            <a:r>
              <a:rPr kumimoji="1" lang="en-US" altLang="zh-CN" dirty="0"/>
              <a:t>/</a:t>
            </a:r>
            <a:r>
              <a:rPr kumimoji="1" lang="zh-CN" altLang="en-US" dirty="0"/>
              <a:t>行业产品的核心痛点及解决措施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753246" y="2331843"/>
            <a:ext cx="6063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这部分“问题”和“解决方案”要一一对应，如：引出了</a:t>
            </a:r>
            <a:r>
              <a:rPr kumimoji="1" lang="en-US" altLang="zh-CN" sz="1600" dirty="0">
                <a:solidFill>
                  <a:schemeClr val="accent2"/>
                </a:solidFill>
              </a:rPr>
              <a:t>4</a:t>
            </a:r>
            <a:r>
              <a:rPr kumimoji="1" lang="zh-CN" altLang="en-US" sz="1600" dirty="0">
                <a:solidFill>
                  <a:schemeClr val="accent2"/>
                </a:solidFill>
              </a:rPr>
              <a:t>个问题，那么对应的就要有</a:t>
            </a:r>
            <a:r>
              <a:rPr kumimoji="1" lang="en-US" altLang="zh-CN" sz="1600" dirty="0">
                <a:solidFill>
                  <a:schemeClr val="accent2"/>
                </a:solidFill>
              </a:rPr>
              <a:t>4</a:t>
            </a:r>
            <a:r>
              <a:rPr kumimoji="1" lang="zh-CN" altLang="en-US" sz="1600" dirty="0">
                <a:solidFill>
                  <a:schemeClr val="accent2"/>
                </a:solidFill>
              </a:rPr>
              <a:t>个解决方案。排版上要布局清晰，两边对应。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86634" y="1782475"/>
            <a:ext cx="7279320" cy="150859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/>
          <p:cNvSpPr/>
          <p:nvPr/>
        </p:nvSpPr>
        <p:spPr>
          <a:xfrm flipV="1">
            <a:off x="826046" y="3046269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27612" y="289095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合作探究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27612" y="32602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有探索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同心圆 24"/>
          <p:cNvSpPr/>
          <p:nvPr/>
        </p:nvSpPr>
        <p:spPr>
          <a:xfrm>
            <a:off x="5905303" y="3950963"/>
            <a:ext cx="1631116" cy="1631116"/>
          </a:xfrm>
          <a:prstGeom prst="donut">
            <a:avLst>
              <a:gd name="adj" fmla="val 16331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20751" y="452942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问题</a:t>
            </a:r>
            <a:endParaRPr kumimoji="1" lang="zh-CN" altLang="en-US" sz="2400" b="1" dirty="0"/>
          </a:p>
        </p:txBody>
      </p:sp>
      <p:sp>
        <p:nvSpPr>
          <p:cNvPr id="29" name="同心圆 28"/>
          <p:cNvSpPr/>
          <p:nvPr/>
        </p:nvSpPr>
        <p:spPr>
          <a:xfrm>
            <a:off x="7951867" y="3950963"/>
            <a:ext cx="1631116" cy="1631116"/>
          </a:xfrm>
          <a:prstGeom prst="donut">
            <a:avLst>
              <a:gd name="adj" fmla="val 16331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367315" y="452942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解决</a:t>
            </a:r>
            <a:endParaRPr kumimoji="1" lang="zh-CN" altLang="en-US" sz="2400" b="1" dirty="0"/>
          </a:p>
        </p:txBody>
      </p:sp>
      <p:cxnSp>
        <p:nvCxnSpPr>
          <p:cNvPr id="32" name="直线连接符 31"/>
          <p:cNvCxnSpPr/>
          <p:nvPr/>
        </p:nvCxnSpPr>
        <p:spPr>
          <a:xfrm>
            <a:off x="4174977" y="4218012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174977" y="379325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cxnSp>
        <p:nvCxnSpPr>
          <p:cNvPr id="34" name="直线连接符 33"/>
          <p:cNvCxnSpPr/>
          <p:nvPr/>
        </p:nvCxnSpPr>
        <p:spPr>
          <a:xfrm>
            <a:off x="4174977" y="4795670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174977" y="4370911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cxnSp>
        <p:nvCxnSpPr>
          <p:cNvPr id="36" name="直线连接符 35"/>
          <p:cNvCxnSpPr/>
          <p:nvPr/>
        </p:nvCxnSpPr>
        <p:spPr>
          <a:xfrm>
            <a:off x="4174977" y="5322808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174977" y="4898049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174977" y="5900466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174977" y="5475707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cxnSp>
        <p:nvCxnSpPr>
          <p:cNvPr id="40" name="直线连接符 39"/>
          <p:cNvCxnSpPr/>
          <p:nvPr/>
        </p:nvCxnSpPr>
        <p:spPr>
          <a:xfrm>
            <a:off x="9824305" y="4213703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9824305" y="378894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cxnSp>
        <p:nvCxnSpPr>
          <p:cNvPr id="42" name="直线连接符 41"/>
          <p:cNvCxnSpPr/>
          <p:nvPr/>
        </p:nvCxnSpPr>
        <p:spPr>
          <a:xfrm>
            <a:off x="9824305" y="4791361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9824305" y="436660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cxnSp>
        <p:nvCxnSpPr>
          <p:cNvPr id="44" name="直线连接符 43"/>
          <p:cNvCxnSpPr/>
          <p:nvPr/>
        </p:nvCxnSpPr>
        <p:spPr>
          <a:xfrm>
            <a:off x="9824305" y="5318499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9824305" y="489374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cxnSp>
        <p:nvCxnSpPr>
          <p:cNvPr id="46" name="直线连接符 45"/>
          <p:cNvCxnSpPr/>
          <p:nvPr/>
        </p:nvCxnSpPr>
        <p:spPr>
          <a:xfrm>
            <a:off x="9824305" y="5896157"/>
            <a:ext cx="146304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9824305" y="547139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7211960" y="4381990"/>
            <a:ext cx="914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800" b="1" i="1" dirty="0"/>
              <a:t>VS</a:t>
            </a:r>
            <a:endParaRPr kumimoji="1" lang="zh-CN" altLang="en-US" sz="4800" b="1" i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273642" y="375600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布局示例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+5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883269" y="1779882"/>
            <a:ext cx="0" cy="395265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 flipV="1">
            <a:off x="826046" y="1706997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 flipV="1">
            <a:off x="826046" y="4385541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826046" y="5724814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7612" y="159521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产教融合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7612" y="42335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问题策略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7612" y="55820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技术架构</a:t>
            </a:r>
            <a:endParaRPr kumimoji="1" lang="zh-CN" altLang="en-US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027612" y="19953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有能力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7612" y="460291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有策略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7612" y="59821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有架构</a:t>
            </a:r>
            <a:endParaRPr kumimoji="1" lang="zh-CN" altLang="en-US" sz="1400" dirty="0"/>
          </a:p>
        </p:txBody>
      </p:sp>
      <p:sp>
        <p:nvSpPr>
          <p:cNvPr id="16" name="矩形 15"/>
          <p:cNvSpPr/>
          <p:nvPr/>
        </p:nvSpPr>
        <p:spPr>
          <a:xfrm>
            <a:off x="3732668" y="1432207"/>
            <a:ext cx="8009735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09</a:t>
            </a:r>
            <a:endParaRPr kumimoji="1"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445982" y="1432207"/>
            <a:ext cx="3045364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/>
          <p:cNvSpPr/>
          <p:nvPr/>
        </p:nvSpPr>
        <p:spPr>
          <a:xfrm flipV="1">
            <a:off x="826046" y="3046269"/>
            <a:ext cx="114447" cy="1144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27612" y="289095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</a:rPr>
              <a:t>合作探究</a:t>
            </a:r>
            <a:endParaRPr kumimoji="1" lang="zh-CN" altLang="en-US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27612" y="32602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</a:rPr>
              <a:t>有探索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34684" y="199654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  用  层</a:t>
            </a:r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528886" y="293908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业务逻辑层</a:t>
            </a:r>
            <a:endParaRPr kumimoji="1"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4528886" y="35783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数据存储层</a:t>
            </a:r>
            <a:endParaRPr kumimoji="1"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4528886" y="421754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数据传输层</a:t>
            </a:r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4634684" y="485677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感  知  层</a:t>
            </a:r>
            <a:endParaRPr kumimoji="1" lang="zh-CN" altLang="en-US" dirty="0"/>
          </a:p>
        </p:txBody>
      </p:sp>
      <p:sp>
        <p:nvSpPr>
          <p:cNvPr id="50" name="平行四边形 49"/>
          <p:cNvSpPr/>
          <p:nvPr/>
        </p:nvSpPr>
        <p:spPr>
          <a:xfrm>
            <a:off x="6228196" y="2939083"/>
            <a:ext cx="4936192" cy="390478"/>
          </a:xfrm>
          <a:prstGeom prst="parallelogram">
            <a:avLst>
              <a:gd name="adj" fmla="val 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平行四边形 50"/>
          <p:cNvSpPr/>
          <p:nvPr/>
        </p:nvSpPr>
        <p:spPr>
          <a:xfrm>
            <a:off x="4406724" y="2939083"/>
            <a:ext cx="1580150" cy="390478"/>
          </a:xfrm>
          <a:prstGeom prst="parallelogram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平行四边形 51"/>
          <p:cNvSpPr/>
          <p:nvPr/>
        </p:nvSpPr>
        <p:spPr>
          <a:xfrm>
            <a:off x="4406724" y="3563930"/>
            <a:ext cx="1580150" cy="390478"/>
          </a:xfrm>
          <a:prstGeom prst="parallelogram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平行四边形 52"/>
          <p:cNvSpPr/>
          <p:nvPr/>
        </p:nvSpPr>
        <p:spPr>
          <a:xfrm>
            <a:off x="4406724" y="4217858"/>
            <a:ext cx="1580150" cy="390478"/>
          </a:xfrm>
          <a:prstGeom prst="parallelogram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平行四边形 53"/>
          <p:cNvSpPr/>
          <p:nvPr/>
        </p:nvSpPr>
        <p:spPr>
          <a:xfrm>
            <a:off x="4406724" y="4842705"/>
            <a:ext cx="1580150" cy="390478"/>
          </a:xfrm>
          <a:prstGeom prst="parallelogram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平行四边形 54"/>
          <p:cNvSpPr/>
          <p:nvPr/>
        </p:nvSpPr>
        <p:spPr>
          <a:xfrm>
            <a:off x="6228196" y="3567740"/>
            <a:ext cx="4936192" cy="390478"/>
          </a:xfrm>
          <a:prstGeom prst="parallelogram">
            <a:avLst>
              <a:gd name="adj" fmla="val 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平行四边形 55"/>
          <p:cNvSpPr/>
          <p:nvPr/>
        </p:nvSpPr>
        <p:spPr>
          <a:xfrm>
            <a:off x="6228196" y="4196397"/>
            <a:ext cx="4936192" cy="390478"/>
          </a:xfrm>
          <a:prstGeom prst="parallelogram">
            <a:avLst>
              <a:gd name="adj" fmla="val 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平行四边形 56"/>
          <p:cNvSpPr/>
          <p:nvPr/>
        </p:nvSpPr>
        <p:spPr>
          <a:xfrm>
            <a:off x="6228196" y="4824809"/>
            <a:ext cx="4936192" cy="390478"/>
          </a:xfrm>
          <a:prstGeom prst="parallelogram">
            <a:avLst>
              <a:gd name="adj" fmla="val 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4406724" y="5566220"/>
            <a:ext cx="6757664" cy="4839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4406724" y="1821444"/>
            <a:ext cx="6757664" cy="719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447946" y="2045478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Web</a:t>
            </a:r>
            <a:r>
              <a:rPr kumimoji="1" lang="zh-CN" altLang="en-US" dirty="0">
                <a:solidFill>
                  <a:schemeClr val="accent2"/>
                </a:solidFill>
              </a:rPr>
              <a:t>端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586232" y="204547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App</a:t>
            </a:r>
            <a:r>
              <a:rPr kumimoji="1" lang="zh-CN" altLang="en-US" dirty="0">
                <a:solidFill>
                  <a:schemeClr val="accent2"/>
                </a:solidFill>
              </a:rPr>
              <a:t>端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580888" y="204547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……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357034" y="296004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……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357033" y="3578313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……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404103" y="420834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……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419868" y="483675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……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359524" y="5624811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核心功能描述（简短不拖拉）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73" name="左大括号 72"/>
          <p:cNvSpPr/>
          <p:nvPr/>
        </p:nvSpPr>
        <p:spPr>
          <a:xfrm rot="16200000">
            <a:off x="8394878" y="967193"/>
            <a:ext cx="369333" cy="353157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9558898" y="2106612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accent2"/>
                </a:solidFill>
              </a:rPr>
              <a:t>（可配图）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+5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10</a:t>
            </a:r>
            <a:endParaRPr kumimoji="1"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647547" y="157288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安全与规范</a:t>
            </a:r>
            <a:endParaRPr kumimoji="1" lang="zh-CN" altLang="en-US" sz="2400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b="36255"/>
          <a:stretch>
            <a:fillRect/>
          </a:stretch>
        </p:blipFill>
        <p:spPr>
          <a:xfrm>
            <a:off x="1714952" y="2391951"/>
            <a:ext cx="8762095" cy="357275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71096" y="2017671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项目开发严格遵循国家标准与编码规范，研发过程注重细节，精益求精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889834" y="5894362"/>
            <a:ext cx="6412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全面覆盖：软件需求分析、设计、编码、测试。全生命周期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得分点：职业素养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11</a:t>
            </a:r>
            <a:endParaRPr kumimoji="1"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647547" y="1572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关键技术</a:t>
            </a:r>
            <a:endParaRPr kumimoji="1"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810759" y="2017671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本项目中使用的所有技术栈均为市面上主流</a:t>
            </a:r>
            <a:endParaRPr kumimoji="1"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923836" y="2778597"/>
            <a:ext cx="2278966" cy="2278966"/>
            <a:chOff x="1355433" y="2778597"/>
            <a:chExt cx="2278966" cy="2278966"/>
          </a:xfrm>
        </p:grpSpPr>
        <p:sp>
          <p:nvSpPr>
            <p:cNvPr id="12" name="矩形 11"/>
            <p:cNvSpPr/>
            <p:nvPr/>
          </p:nvSpPr>
          <p:spPr>
            <a:xfrm>
              <a:off x="1355433" y="2778597"/>
              <a:ext cx="2278966" cy="2278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171750" y="391808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配图</a:t>
              </a:r>
              <a:endParaRPr kumimoji="1"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15132" y="4405201"/>
              <a:ext cx="21595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chemeClr val="accent2"/>
                  </a:solidFill>
                </a:rPr>
                <a:t>符合对应文字的图片即可</a:t>
              </a:r>
              <a:endParaRPr kumimoji="1"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940917" y="290662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/>
                <a:t>技术名称</a:t>
              </a:r>
              <a:endParaRPr kumimoji="1" lang="zh-CN" altLang="en-US" b="1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92390" y="2778597"/>
            <a:ext cx="2278966" cy="2278966"/>
            <a:chOff x="1355433" y="2778597"/>
            <a:chExt cx="2278966" cy="2278966"/>
          </a:xfrm>
        </p:grpSpPr>
        <p:sp>
          <p:nvSpPr>
            <p:cNvPr id="30" name="矩形 29"/>
            <p:cNvSpPr/>
            <p:nvPr/>
          </p:nvSpPr>
          <p:spPr>
            <a:xfrm>
              <a:off x="1355433" y="2778597"/>
              <a:ext cx="2278966" cy="2278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171750" y="391808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配图</a:t>
              </a:r>
              <a:endParaRPr kumimoji="1"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415132" y="4405201"/>
              <a:ext cx="21595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chemeClr val="accent2"/>
                  </a:solidFill>
                </a:rPr>
                <a:t>符合对应文字的图片即可</a:t>
              </a:r>
              <a:endParaRPr kumimoji="1"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940917" y="290662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/>
                <a:t>技术名称</a:t>
              </a:r>
              <a:endParaRPr kumimoji="1" lang="zh-CN" altLang="en-US" b="1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260944" y="2778597"/>
            <a:ext cx="2278966" cy="2278966"/>
            <a:chOff x="1355433" y="2778597"/>
            <a:chExt cx="2278966" cy="2278966"/>
          </a:xfrm>
        </p:grpSpPr>
        <p:sp>
          <p:nvSpPr>
            <p:cNvPr id="35" name="矩形 34"/>
            <p:cNvSpPr/>
            <p:nvPr/>
          </p:nvSpPr>
          <p:spPr>
            <a:xfrm>
              <a:off x="1355433" y="2778597"/>
              <a:ext cx="2278966" cy="2278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2171750" y="391808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配图</a:t>
              </a:r>
              <a:endParaRPr kumimoji="1"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415132" y="4405201"/>
              <a:ext cx="21595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chemeClr val="accent2"/>
                  </a:solidFill>
                </a:rPr>
                <a:t>符合对应文字的图片即可</a:t>
              </a:r>
              <a:endParaRPr kumimoji="1"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940917" y="290662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/>
                <a:t>技术名称</a:t>
              </a:r>
              <a:endParaRPr kumimoji="1" lang="zh-CN" altLang="en-US" b="1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929499" y="2778597"/>
            <a:ext cx="2278966" cy="2278966"/>
            <a:chOff x="1355433" y="2778597"/>
            <a:chExt cx="2278966" cy="2278966"/>
          </a:xfrm>
        </p:grpSpPr>
        <p:sp>
          <p:nvSpPr>
            <p:cNvPr id="40" name="矩形 39"/>
            <p:cNvSpPr/>
            <p:nvPr/>
          </p:nvSpPr>
          <p:spPr>
            <a:xfrm>
              <a:off x="1355433" y="2778597"/>
              <a:ext cx="2278966" cy="2278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171750" y="391808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配图</a:t>
              </a:r>
              <a:endParaRPr kumimoji="1" lang="zh-CN" altLang="en-US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15132" y="4405201"/>
              <a:ext cx="21595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solidFill>
                    <a:schemeClr val="accent2"/>
                  </a:solidFill>
                </a:rPr>
                <a:t>符合对应文字的图片即可</a:t>
              </a:r>
              <a:endParaRPr kumimoji="1"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940917" y="290662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/>
                <a:t>技术名称</a:t>
              </a:r>
              <a:endParaRPr kumimoji="1" lang="zh-CN" altLang="en-US" b="1" dirty="0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862989" y="5699686"/>
            <a:ext cx="1021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融合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实现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，运用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构建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，通过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挖掘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，依托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打造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，形成全栈式技术解决方案。</a:t>
            </a:r>
            <a:endParaRPr kumimoji="1"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862989" y="53370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2"/>
                </a:solidFill>
              </a:rPr>
              <a:t>话术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+5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12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团队合作</a:t>
            </a:r>
            <a:endParaRPr kumimoji="1" lang="zh-CN" altLang="en-US" sz="2400" b="1" dirty="0"/>
          </a:p>
        </p:txBody>
      </p:sp>
      <p:sp>
        <p:nvSpPr>
          <p:cNvPr id="30" name="矩形 29"/>
          <p:cNvSpPr/>
          <p:nvPr/>
        </p:nvSpPr>
        <p:spPr>
          <a:xfrm>
            <a:off x="918898" y="2307102"/>
            <a:ext cx="2405576" cy="187100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411268" y="24618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前端工程师</a:t>
            </a:r>
            <a:endParaRPr kumimoji="1"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1148916" y="3333305"/>
            <a:ext cx="2082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主要负责的工作内容，罗列出来。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554492" y="2307102"/>
            <a:ext cx="2405576" cy="187100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046862" y="24618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后端工程师</a:t>
            </a:r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3784510" y="3333305"/>
            <a:ext cx="2082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主要负责的工作内容，罗列出来。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190086" y="2307102"/>
            <a:ext cx="2405576" cy="187100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838876" y="24618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产品经理</a:t>
            </a:r>
            <a:endParaRPr kumimoji="1"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6420104" y="3333305"/>
            <a:ext cx="2082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主要负责的工作内容，罗列出来。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825680" y="2307102"/>
            <a:ext cx="2405576" cy="187100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9359054" y="24618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测试工程师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9055698" y="3333305"/>
            <a:ext cx="2082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主要负责的工作内容，罗列出来。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18898" y="4420207"/>
            <a:ext cx="10312358" cy="178364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4009288" y="4942697"/>
            <a:ext cx="371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参考图片</a:t>
            </a:r>
            <a:r>
              <a:rPr kumimoji="1" lang="en-US" altLang="zh-CN" dirty="0"/>
              <a:t>/</a:t>
            </a:r>
            <a:r>
              <a:rPr kumimoji="1" lang="zh-CN" altLang="en-US" dirty="0"/>
              <a:t>团队照片</a:t>
            </a:r>
            <a:r>
              <a:rPr kumimoji="1" lang="en-US" altLang="zh-CN" dirty="0"/>
              <a:t>/</a:t>
            </a:r>
            <a:r>
              <a:rPr kumimoji="1" lang="zh-CN" altLang="en-US" dirty="0"/>
              <a:t>协作照片  都可</a:t>
            </a:r>
            <a:endParaRPr kumimoji="1"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4440496" y="5480624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着重体现分工明确、紧密合作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907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得分点：团队合作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+10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02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研发历程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273971"/>
            <a:ext cx="11292806" cy="512998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13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37304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工匠精神</a:t>
            </a:r>
            <a:endParaRPr kumimoji="1" lang="zh-CN" altLang="en-US" sz="24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5319813" y="1350498"/>
            <a:ext cx="154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图片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图表</a:t>
            </a:r>
            <a:endParaRPr kumimoji="1" lang="zh-CN" altLang="en-US" sz="24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3508350" y="1745287"/>
            <a:ext cx="5262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体现工匠精神的项目功能</a:t>
            </a:r>
            <a:r>
              <a:rPr kumimoji="1" lang="en-US" altLang="zh-CN" sz="1600" dirty="0">
                <a:solidFill>
                  <a:schemeClr val="accent2"/>
                </a:solidFill>
              </a:rPr>
              <a:t>/</a:t>
            </a:r>
            <a:r>
              <a:rPr kumimoji="1" lang="zh-CN" altLang="en-US" sz="1600" dirty="0">
                <a:solidFill>
                  <a:schemeClr val="accent2"/>
                </a:solidFill>
              </a:rPr>
              <a:t>开发过程</a:t>
            </a:r>
            <a:r>
              <a:rPr kumimoji="1" lang="en-US" altLang="zh-CN" sz="1600" dirty="0">
                <a:solidFill>
                  <a:schemeClr val="accent2"/>
                </a:solidFill>
              </a:rPr>
              <a:t>/</a:t>
            </a:r>
            <a:r>
              <a:rPr kumimoji="1" lang="zh-CN" altLang="en-US" sz="1600" dirty="0">
                <a:solidFill>
                  <a:schemeClr val="accent2"/>
                </a:solidFill>
              </a:rPr>
              <a:t>规范类图片，可多张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7100" y="6061689"/>
            <a:ext cx="10437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/>
              <a:t>项目开发严格遵循*个国家标准，全面覆盖了软件需求分析、设计、编码到测试的全身影周期。确保软件开发的规范严谨与标准统一。</a:t>
            </a:r>
            <a:endParaRPr kumimoji="1" lang="zh-CN" altLang="en-US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2948714" y="2148350"/>
            <a:ext cx="1450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1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甘特图样例</a:t>
            </a:r>
            <a:endParaRPr kumimoji="1" lang="zh-CN" altLang="en-US" sz="1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923572" y="2563169"/>
            <a:ext cx="10182292" cy="3374598"/>
            <a:chOff x="923572" y="2563169"/>
            <a:chExt cx="10182292" cy="3374598"/>
          </a:xfrm>
        </p:grpSpPr>
        <p:sp>
          <p:nvSpPr>
            <p:cNvPr id="10" name="文本框 9"/>
            <p:cNvSpPr txBox="1"/>
            <p:nvPr/>
          </p:nvSpPr>
          <p:spPr>
            <a:xfrm>
              <a:off x="923572" y="2569432"/>
              <a:ext cx="13195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/>
                <a:t>任务名称</a:t>
              </a:r>
              <a:r>
                <a:rPr kumimoji="1" lang="en-US" altLang="zh-CN" sz="1200" b="1" dirty="0"/>
                <a:t>/</a:t>
              </a:r>
              <a:r>
                <a:rPr kumimoji="1" lang="zh-CN" altLang="en-US" sz="1200" b="1" dirty="0"/>
                <a:t>负责人</a:t>
              </a:r>
              <a:endParaRPr kumimoji="1" lang="zh-CN" altLang="en-US" sz="1200" b="1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3572" y="2878188"/>
              <a:ext cx="11079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需求分析与原型设计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产品经理（</a:t>
              </a:r>
              <a:r>
                <a:rPr kumimoji="1" lang="en-US" altLang="zh-CN" sz="500" dirty="0"/>
                <a:t>PM</a:t>
              </a:r>
              <a:r>
                <a:rPr kumimoji="1" lang="zh-CN" altLang="en-US" sz="500" dirty="0"/>
                <a:t>）</a:t>
              </a:r>
              <a:endParaRPr kumimoji="1" lang="zh-CN" altLang="en-US" sz="50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23572" y="3186792"/>
              <a:ext cx="121058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技术架构与数据库设计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后端工程师（</a:t>
              </a:r>
              <a:r>
                <a:rPr kumimoji="1" lang="en-US" altLang="zh-CN" sz="500" dirty="0"/>
                <a:t>BE</a:t>
              </a:r>
              <a:r>
                <a:rPr kumimoji="1" lang="zh-CN" altLang="en-US" sz="500" dirty="0"/>
                <a:t>）</a:t>
              </a:r>
              <a:endParaRPr kumimoji="1" lang="zh-CN" altLang="en-US" sz="50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23572" y="3495396"/>
              <a:ext cx="12025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/>
                <a:t>UI</a:t>
              </a:r>
              <a:r>
                <a:rPr kumimoji="1" lang="zh-CN" altLang="en-US" sz="800" dirty="0"/>
                <a:t>组件与前端框架搭建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前端工程师（</a:t>
              </a:r>
              <a:r>
                <a:rPr kumimoji="1" lang="en-US" altLang="zh-CN" sz="500" dirty="0"/>
                <a:t>FE</a:t>
              </a:r>
              <a:r>
                <a:rPr kumimoji="1" lang="zh-CN" altLang="en-US" sz="500" dirty="0"/>
                <a:t>）</a:t>
              </a:r>
              <a:endParaRPr kumimoji="1" lang="zh-CN" altLang="en-US" sz="500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23572" y="3804000"/>
              <a:ext cx="100540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核心业务逻辑开发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后端工程师（</a:t>
              </a:r>
              <a:r>
                <a:rPr kumimoji="1" lang="en-US" altLang="zh-CN" sz="500" dirty="0"/>
                <a:t>BE</a:t>
              </a:r>
              <a:r>
                <a:rPr kumimoji="1" lang="zh-CN" altLang="en-US" sz="500" dirty="0"/>
                <a:t>）</a:t>
              </a:r>
              <a:endParaRPr kumimoji="1" lang="zh-CN" altLang="en-US" sz="5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23572" y="4112604"/>
              <a:ext cx="13131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前端页面开发与交互实现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前端工程师（</a:t>
              </a:r>
              <a:r>
                <a:rPr kumimoji="1" lang="en-US" altLang="zh-CN" sz="500" dirty="0"/>
                <a:t>FE</a:t>
              </a:r>
              <a:r>
                <a:rPr kumimoji="1" lang="zh-CN" altLang="en-US" sz="500" dirty="0"/>
                <a:t>）</a:t>
              </a:r>
              <a:endParaRPr kumimoji="1" lang="zh-CN" altLang="en-US" sz="5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923572" y="4421208"/>
              <a:ext cx="121058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前后端联调与接口测试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跨岗位协作</a:t>
              </a:r>
              <a:endParaRPr kumimoji="1" lang="zh-CN" altLang="en-US" sz="5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23572" y="4729812"/>
              <a:ext cx="11079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功能测试与性能压测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测试工程师（</a:t>
              </a:r>
              <a:r>
                <a:rPr kumimoji="1" lang="en-US" altLang="zh-CN" sz="500" dirty="0"/>
                <a:t>QA</a:t>
              </a:r>
              <a:r>
                <a:rPr kumimoji="1" lang="zh-CN" altLang="en-US" sz="500" dirty="0"/>
                <a:t>）</a:t>
              </a:r>
              <a:endParaRPr kumimoji="1" lang="zh-CN" altLang="en-US" sz="5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23572" y="5038416"/>
              <a:ext cx="11079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缺陷修复与回归测试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全团队</a:t>
              </a:r>
              <a:endParaRPr kumimoji="1" lang="zh-CN" altLang="en-US" sz="5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23572" y="5347023"/>
              <a:ext cx="11079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/>
                <a:t>项目部署与成果验收</a:t>
              </a:r>
              <a:endParaRPr kumimoji="1" lang="en-US" altLang="zh-CN" sz="800" dirty="0"/>
            </a:p>
            <a:p>
              <a:r>
                <a:rPr kumimoji="1" lang="zh-CN" altLang="en-US" sz="500" dirty="0"/>
                <a:t>全团队</a:t>
              </a:r>
              <a:endParaRPr kumimoji="1" lang="zh-CN" altLang="en-US" sz="500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690439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W1</a:t>
              </a:r>
              <a:endParaRPr kumimoji="1" lang="zh-CN" altLang="en-US" sz="1200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413646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W2</a:t>
              </a:r>
              <a:endParaRPr kumimoji="1" lang="zh-CN" altLang="en-US" sz="12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136853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W3</a:t>
              </a:r>
              <a:endParaRPr kumimoji="1" lang="zh-CN" altLang="en-US" sz="12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860060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W4</a:t>
              </a:r>
              <a:endParaRPr kumimoji="1" lang="zh-CN" altLang="en-US" sz="1200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583267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W5</a:t>
              </a:r>
              <a:endParaRPr kumimoji="1" lang="zh-CN" altLang="en-US" sz="12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306474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W6</a:t>
              </a:r>
              <a:endParaRPr kumimoji="1" lang="zh-CN" altLang="en-US" sz="12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029681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W7</a:t>
              </a:r>
              <a:endParaRPr kumimoji="1" lang="zh-CN" altLang="en-US" sz="120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752888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W8</a:t>
              </a:r>
              <a:endParaRPr kumimoji="1" lang="zh-CN" altLang="en-US" sz="12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476093" y="2563169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W9</a:t>
              </a:r>
              <a:endParaRPr kumimoji="1" lang="zh-CN" altLang="en-US" sz="1200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160156" y="2563169"/>
              <a:ext cx="4892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W10</a:t>
              </a:r>
              <a:endParaRPr kumimoji="1"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888393" y="2563169"/>
              <a:ext cx="4892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W11</a:t>
              </a:r>
              <a:endParaRPr kumimoji="1" lang="zh-CN" altLang="en-US" sz="1200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0616628" y="2563169"/>
              <a:ext cx="4892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200" dirty="0"/>
                <a:t>W12</a:t>
              </a:r>
              <a:endParaRPr kumimoji="1" lang="zh-CN" altLang="en-US" sz="1200" dirty="0"/>
            </a:p>
          </p:txBody>
        </p:sp>
        <p:cxnSp>
          <p:nvCxnSpPr>
            <p:cNvPr id="35" name="直线连接符 34"/>
            <p:cNvCxnSpPr/>
            <p:nvPr/>
          </p:nvCxnSpPr>
          <p:spPr>
            <a:xfrm>
              <a:off x="977030" y="2840168"/>
              <a:ext cx="10128834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/>
            <p:cNvCxnSpPr/>
            <p:nvPr/>
          </p:nvCxnSpPr>
          <p:spPr>
            <a:xfrm>
              <a:off x="2530257" y="2563169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3254110" y="2574483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3977963" y="2563169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>
              <a:off x="4701816" y="2574483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>
              <a:off x="5425669" y="2574483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/>
            <p:cNvCxnSpPr/>
            <p:nvPr/>
          </p:nvCxnSpPr>
          <p:spPr>
            <a:xfrm>
              <a:off x="6149522" y="2585797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/>
            <p:cNvCxnSpPr/>
            <p:nvPr/>
          </p:nvCxnSpPr>
          <p:spPr>
            <a:xfrm>
              <a:off x="6873375" y="2574483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连接符 42"/>
            <p:cNvCxnSpPr/>
            <p:nvPr/>
          </p:nvCxnSpPr>
          <p:spPr>
            <a:xfrm>
              <a:off x="7597228" y="2585797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/>
            <p:cNvCxnSpPr/>
            <p:nvPr/>
          </p:nvCxnSpPr>
          <p:spPr>
            <a:xfrm>
              <a:off x="8321081" y="2574483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/>
            <p:cNvCxnSpPr/>
            <p:nvPr/>
          </p:nvCxnSpPr>
          <p:spPr>
            <a:xfrm>
              <a:off x="9044934" y="2585797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连接符 45"/>
            <p:cNvCxnSpPr/>
            <p:nvPr/>
          </p:nvCxnSpPr>
          <p:spPr>
            <a:xfrm>
              <a:off x="9768787" y="2574483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/>
            <p:cNvCxnSpPr/>
            <p:nvPr/>
          </p:nvCxnSpPr>
          <p:spPr>
            <a:xfrm>
              <a:off x="10492636" y="2605802"/>
              <a:ext cx="0" cy="3076242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圆角矩形 47"/>
            <p:cNvSpPr/>
            <p:nvPr/>
          </p:nvSpPr>
          <p:spPr>
            <a:xfrm>
              <a:off x="2530256" y="2924226"/>
              <a:ext cx="1288809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3338218" y="3242172"/>
              <a:ext cx="1138436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3674005" y="3550776"/>
              <a:ext cx="1909249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4180575" y="3859380"/>
              <a:ext cx="3140884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5022937" y="4172122"/>
              <a:ext cx="2780395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7227146" y="4476588"/>
              <a:ext cx="1374544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" name="圆角矩形 53"/>
            <p:cNvSpPr/>
            <p:nvPr/>
          </p:nvSpPr>
          <p:spPr>
            <a:xfrm>
              <a:off x="8196304" y="4780113"/>
              <a:ext cx="1692087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9404775" y="5093796"/>
              <a:ext cx="972854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10374819" y="5402403"/>
              <a:ext cx="731043" cy="18162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140778" y="5722323"/>
              <a:ext cx="7681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800" b="1" i="1" dirty="0">
                  <a:solidFill>
                    <a:schemeClr val="bg1">
                      <a:lumMod val="65000"/>
                    </a:schemeClr>
                  </a:solidFill>
                </a:rPr>
                <a:t>立项启动</a:t>
              </a:r>
              <a:endParaRPr kumimoji="1" lang="zh-CN" altLang="en-US" sz="800" b="1" i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406501" y="5722323"/>
              <a:ext cx="7681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800" b="1" i="1" dirty="0">
                  <a:solidFill>
                    <a:schemeClr val="bg1">
                      <a:lumMod val="65000"/>
                    </a:schemeClr>
                  </a:solidFill>
                </a:rPr>
                <a:t>架构定型</a:t>
              </a:r>
              <a:endParaRPr kumimoji="1" lang="zh-CN" altLang="en-US" sz="800" b="1" i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213148" y="5715083"/>
              <a:ext cx="7681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800" b="1" i="1" dirty="0">
                  <a:solidFill>
                    <a:schemeClr val="bg1">
                      <a:lumMod val="65000"/>
                    </a:schemeClr>
                  </a:solidFill>
                </a:rPr>
                <a:t>联调开始</a:t>
              </a:r>
              <a:endParaRPr kumimoji="1" lang="zh-CN" altLang="en-US" sz="800" b="1" i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0307704" y="5722323"/>
              <a:ext cx="7681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800" b="1" i="1" dirty="0">
                  <a:solidFill>
                    <a:schemeClr val="bg1">
                      <a:lumMod val="65000"/>
                    </a:schemeClr>
                  </a:solidFill>
                </a:rPr>
                <a:t>交付上线</a:t>
              </a:r>
              <a:endParaRPr kumimoji="1" lang="zh-CN" altLang="en-US" sz="800" b="1" i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923572" y="2145849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项目研发实施进度计划表</a:t>
            </a:r>
            <a:endParaRPr kumimoji="1"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44465" y="6517507"/>
            <a:ext cx="2953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得分点：职业素养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+4</a:t>
            </a: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 、技能水平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+5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03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实施过程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14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产品经理</a:t>
            </a:r>
            <a:endParaRPr kumimoji="1"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482042" y="2695883"/>
            <a:ext cx="9581469" cy="2127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角色介绍，设计流程展示，可用标准流程图，业务关联等。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针对前面“问题策略”页的问题部分，展示讲解使用的优化方案及技术。要有直观的数据对比。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单独一页展示先进技术</a:t>
            </a:r>
            <a:r>
              <a:rPr kumimoji="1" lang="en-US" altLang="zh-CN" dirty="0"/>
              <a:t>/</a:t>
            </a:r>
            <a:r>
              <a:rPr kumimoji="1" lang="zh-CN" altLang="en-US" dirty="0"/>
              <a:t>核心功能</a:t>
            </a:r>
            <a:r>
              <a:rPr kumimoji="1" lang="en-US" altLang="zh-CN" dirty="0"/>
              <a:t>/</a:t>
            </a:r>
            <a:r>
              <a:rPr kumimoji="1" lang="zh-CN" altLang="en-US" dirty="0"/>
              <a:t>重点部分。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实操环节：要在</a:t>
            </a:r>
            <a:r>
              <a:rPr kumimoji="1" lang="en-US" altLang="zh-CN" dirty="0"/>
              <a:t>ppt</a:t>
            </a:r>
            <a:r>
              <a:rPr kumimoji="1" lang="zh-CN" altLang="en-US" dirty="0"/>
              <a:t>上体现岗位职责，并且要有操作流程图。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展示实操结果。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61514" y="521911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2"/>
                </a:solidFill>
              </a:rPr>
              <a:t>每个人员的实操过程</a:t>
            </a:r>
            <a:r>
              <a:rPr kumimoji="1" lang="en-US" altLang="zh-CN" dirty="0">
                <a:solidFill>
                  <a:schemeClr val="accent2"/>
                </a:solidFill>
              </a:rPr>
              <a:t>ppt</a:t>
            </a:r>
            <a:r>
              <a:rPr kumimoji="1" lang="zh-CN" altLang="en-US" dirty="0">
                <a:solidFill>
                  <a:schemeClr val="accent2"/>
                </a:solidFill>
              </a:rPr>
              <a:t>最好在</a:t>
            </a:r>
            <a:r>
              <a:rPr kumimoji="1" lang="en-US" altLang="zh-CN" dirty="0">
                <a:solidFill>
                  <a:schemeClr val="accent2"/>
                </a:solidFill>
              </a:rPr>
              <a:t>5</a:t>
            </a:r>
            <a:r>
              <a:rPr kumimoji="1" lang="zh-CN" altLang="en-US" dirty="0">
                <a:solidFill>
                  <a:schemeClr val="accent2"/>
                </a:solidFill>
              </a:rPr>
              <a:t>页左右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907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+10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03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实施过程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15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前端开发</a:t>
            </a:r>
            <a:endParaRPr kumimoji="1"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482042" y="2695883"/>
            <a:ext cx="9581469" cy="2127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角色介绍，开发流程展示，可用标准流程图，业务关联等。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针对前面“问题策略”页的问题部分，展示讲解使用的优化方案及技术。要有直观的数据对比。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单独一页展示先进技术</a:t>
            </a:r>
            <a:r>
              <a:rPr kumimoji="1" lang="en-US" altLang="zh-CN" dirty="0"/>
              <a:t>/</a:t>
            </a:r>
            <a:r>
              <a:rPr kumimoji="1" lang="zh-CN" altLang="en-US" dirty="0"/>
              <a:t>核心功能</a:t>
            </a:r>
            <a:r>
              <a:rPr kumimoji="1" lang="en-US" altLang="zh-CN" dirty="0"/>
              <a:t>/</a:t>
            </a:r>
            <a:r>
              <a:rPr kumimoji="1" lang="zh-CN" altLang="en-US" dirty="0"/>
              <a:t>重点部分。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实操环节：要在</a:t>
            </a:r>
            <a:r>
              <a:rPr kumimoji="1" lang="en-US" altLang="zh-CN" dirty="0"/>
              <a:t>ppt</a:t>
            </a:r>
            <a:r>
              <a:rPr kumimoji="1" lang="zh-CN" altLang="en-US" dirty="0"/>
              <a:t>上体现岗位职责，并且要有操作流程图。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展示实操结果。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61514" y="521911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2"/>
                </a:solidFill>
              </a:rPr>
              <a:t>每个人员的实操过程</a:t>
            </a:r>
            <a:r>
              <a:rPr kumimoji="1" lang="en-US" altLang="zh-CN" dirty="0">
                <a:solidFill>
                  <a:schemeClr val="accent2"/>
                </a:solidFill>
              </a:rPr>
              <a:t>ppt</a:t>
            </a:r>
            <a:r>
              <a:rPr kumimoji="1" lang="zh-CN" altLang="en-US" dirty="0">
                <a:solidFill>
                  <a:schemeClr val="accent2"/>
                </a:solidFill>
              </a:rPr>
              <a:t>最好在</a:t>
            </a:r>
            <a:r>
              <a:rPr kumimoji="1" lang="en-US" altLang="zh-CN" dirty="0">
                <a:solidFill>
                  <a:schemeClr val="accent2"/>
                </a:solidFill>
              </a:rPr>
              <a:t>5</a:t>
            </a:r>
            <a:r>
              <a:rPr kumimoji="1" lang="zh-CN" altLang="en-US" dirty="0">
                <a:solidFill>
                  <a:schemeClr val="accent2"/>
                </a:solidFill>
              </a:rPr>
              <a:t>页左右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907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+10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03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实施过程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16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后端开发</a:t>
            </a:r>
            <a:endParaRPr kumimoji="1"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482042" y="2695883"/>
            <a:ext cx="9581469" cy="2127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角色介绍，开发流程展示，可用标准流程图，业务关联等。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针对前面“问题策略”页的问题部分，展示讲解使用的优化方案及技术。要有直观的数据对比。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单独一页展示先进技术</a:t>
            </a:r>
            <a:r>
              <a:rPr kumimoji="1" lang="en-US" altLang="zh-CN" dirty="0"/>
              <a:t>/</a:t>
            </a:r>
            <a:r>
              <a:rPr kumimoji="1" lang="zh-CN" altLang="en-US" dirty="0"/>
              <a:t>核心功能</a:t>
            </a:r>
            <a:r>
              <a:rPr kumimoji="1" lang="en-US" altLang="zh-CN" dirty="0"/>
              <a:t>/</a:t>
            </a:r>
            <a:r>
              <a:rPr kumimoji="1" lang="zh-CN" altLang="en-US" dirty="0"/>
              <a:t>重点部分。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实操环节：要在</a:t>
            </a:r>
            <a:r>
              <a:rPr kumimoji="1" lang="en-US" altLang="zh-CN" dirty="0"/>
              <a:t>ppt</a:t>
            </a:r>
            <a:r>
              <a:rPr kumimoji="1" lang="zh-CN" altLang="en-US" dirty="0"/>
              <a:t>上体现岗位职责，并且要有操作流程图。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展示实操结果。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61514" y="521911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2"/>
                </a:solidFill>
              </a:rPr>
              <a:t>每个人员的实操过程</a:t>
            </a:r>
            <a:r>
              <a:rPr kumimoji="1" lang="en-US" altLang="zh-CN" dirty="0">
                <a:solidFill>
                  <a:schemeClr val="accent2"/>
                </a:solidFill>
              </a:rPr>
              <a:t>ppt</a:t>
            </a:r>
            <a:r>
              <a:rPr kumimoji="1" lang="zh-CN" altLang="en-US" dirty="0">
                <a:solidFill>
                  <a:schemeClr val="accent2"/>
                </a:solidFill>
              </a:rPr>
              <a:t>最好在</a:t>
            </a:r>
            <a:r>
              <a:rPr kumimoji="1" lang="en-US" altLang="zh-CN" dirty="0">
                <a:solidFill>
                  <a:schemeClr val="accent2"/>
                </a:solidFill>
              </a:rPr>
              <a:t>5</a:t>
            </a:r>
            <a:r>
              <a:rPr kumimoji="1" lang="zh-CN" altLang="en-US" dirty="0">
                <a:solidFill>
                  <a:schemeClr val="accent2"/>
                </a:solidFill>
              </a:rPr>
              <a:t>页左右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907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+10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03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实施过程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17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测试工程师</a:t>
            </a:r>
            <a:endParaRPr kumimoji="1"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482042" y="2695883"/>
            <a:ext cx="6295313" cy="1296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角色介绍，测试流程展示，可用标准流程图，业务关联等。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实操环节：要在</a:t>
            </a:r>
            <a:r>
              <a:rPr kumimoji="1" lang="en-US" altLang="zh-CN" dirty="0"/>
              <a:t>ppt</a:t>
            </a:r>
            <a:r>
              <a:rPr kumimoji="1" lang="zh-CN" altLang="en-US" dirty="0"/>
              <a:t>上体现岗位职责，并且要有操作流程图。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展示实操结果。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61514" y="521911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2"/>
                </a:solidFill>
              </a:rPr>
              <a:t>每个人员的实操过程</a:t>
            </a:r>
            <a:r>
              <a:rPr kumimoji="1" lang="en-US" altLang="zh-CN" dirty="0">
                <a:solidFill>
                  <a:schemeClr val="accent2"/>
                </a:solidFill>
              </a:rPr>
              <a:t>ppt</a:t>
            </a:r>
            <a:r>
              <a:rPr kumimoji="1" lang="zh-CN" altLang="en-US" dirty="0">
                <a:solidFill>
                  <a:schemeClr val="accent2"/>
                </a:solidFill>
              </a:rPr>
              <a:t>最好在</a:t>
            </a:r>
            <a:r>
              <a:rPr kumimoji="1" lang="en-US" altLang="zh-CN" dirty="0">
                <a:solidFill>
                  <a:schemeClr val="accent2"/>
                </a:solidFill>
              </a:rPr>
              <a:t>5</a:t>
            </a:r>
            <a:r>
              <a:rPr kumimoji="1" lang="zh-CN" altLang="en-US" dirty="0">
                <a:solidFill>
                  <a:schemeClr val="accent2"/>
                </a:solidFill>
              </a:rPr>
              <a:t>页左右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907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得分点：技能水平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+10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04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创新设计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18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技术应用创新</a:t>
            </a:r>
            <a:endParaRPr kumimoji="1"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533378" y="246184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创新锚点</a:t>
            </a:r>
            <a:endParaRPr kumimoji="1"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145991" y="246184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创新成效</a:t>
            </a:r>
            <a:endParaRPr kumimoji="1"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1398410" y="2408682"/>
            <a:ext cx="2540543" cy="506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11024" y="2408682"/>
            <a:ext cx="5511610" cy="506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394545" y="3244334"/>
            <a:ext cx="2556531" cy="383400"/>
            <a:chOff x="1394545" y="3244334"/>
            <a:chExt cx="2556531" cy="383400"/>
          </a:xfrm>
        </p:grpSpPr>
        <p:sp>
          <p:nvSpPr>
            <p:cNvPr id="13" name="文本框 12"/>
            <p:cNvSpPr txBox="1"/>
            <p:nvPr/>
          </p:nvSpPr>
          <p:spPr>
            <a:xfrm>
              <a:off x="1394545" y="3244334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1</a:t>
              </a:r>
              <a:r>
                <a:rPr kumimoji="1" lang="zh-CN" altLang="en-US" dirty="0"/>
                <a:t>、</a:t>
              </a:r>
              <a:r>
                <a:rPr kumimoji="1" lang="en-US" altLang="zh-CN" dirty="0"/>
                <a:t>……</a:t>
              </a:r>
              <a:endParaRPr kumimoji="1" lang="zh-CN" altLang="en-US" dirty="0"/>
            </a:p>
          </p:txBody>
        </p:sp>
        <p:cxnSp>
          <p:nvCxnSpPr>
            <p:cNvPr id="15" name="直线连接符 14"/>
            <p:cNvCxnSpPr/>
            <p:nvPr/>
          </p:nvCxnSpPr>
          <p:spPr>
            <a:xfrm>
              <a:off x="1406668" y="3627734"/>
              <a:ext cx="2544408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390415" y="3885344"/>
            <a:ext cx="2556531" cy="383400"/>
            <a:chOff x="1394545" y="3244334"/>
            <a:chExt cx="2556531" cy="383400"/>
          </a:xfrm>
        </p:grpSpPr>
        <p:sp>
          <p:nvSpPr>
            <p:cNvPr id="18" name="文本框 17"/>
            <p:cNvSpPr txBox="1"/>
            <p:nvPr/>
          </p:nvSpPr>
          <p:spPr>
            <a:xfrm>
              <a:off x="1394545" y="3244334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</a:t>
              </a:r>
              <a:r>
                <a:rPr kumimoji="1" lang="zh-CN" altLang="en-US" dirty="0"/>
                <a:t>、</a:t>
              </a:r>
              <a:r>
                <a:rPr kumimoji="1" lang="en-US" altLang="zh-CN" dirty="0"/>
                <a:t>……</a:t>
              </a:r>
              <a:endParaRPr kumimoji="1" lang="zh-CN" altLang="en-US" dirty="0"/>
            </a:p>
          </p:txBody>
        </p:sp>
        <p:cxnSp>
          <p:nvCxnSpPr>
            <p:cNvPr id="19" name="直线连接符 18"/>
            <p:cNvCxnSpPr/>
            <p:nvPr/>
          </p:nvCxnSpPr>
          <p:spPr>
            <a:xfrm>
              <a:off x="1406668" y="3627734"/>
              <a:ext cx="2544408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1382422" y="4526354"/>
            <a:ext cx="2556531" cy="383400"/>
            <a:chOff x="1394545" y="3244334"/>
            <a:chExt cx="2556531" cy="383400"/>
          </a:xfrm>
        </p:grpSpPr>
        <p:sp>
          <p:nvSpPr>
            <p:cNvPr id="21" name="文本框 20"/>
            <p:cNvSpPr txBox="1"/>
            <p:nvPr/>
          </p:nvSpPr>
          <p:spPr>
            <a:xfrm>
              <a:off x="1394545" y="3244334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</a:t>
              </a:r>
              <a:r>
                <a:rPr kumimoji="1" lang="zh-CN" altLang="en-US" dirty="0"/>
                <a:t>、</a:t>
              </a:r>
              <a:r>
                <a:rPr kumimoji="1" lang="en-US" altLang="zh-CN" dirty="0"/>
                <a:t>……</a:t>
              </a:r>
              <a:endParaRPr kumimoji="1" lang="zh-CN" altLang="en-US" dirty="0"/>
            </a:p>
          </p:txBody>
        </p:sp>
        <p:cxnSp>
          <p:nvCxnSpPr>
            <p:cNvPr id="22" name="直线连接符 21"/>
            <p:cNvCxnSpPr/>
            <p:nvPr/>
          </p:nvCxnSpPr>
          <p:spPr>
            <a:xfrm>
              <a:off x="1406668" y="3627734"/>
              <a:ext cx="2544408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线连接符 22"/>
          <p:cNvCxnSpPr/>
          <p:nvPr/>
        </p:nvCxnSpPr>
        <p:spPr>
          <a:xfrm>
            <a:off x="5011024" y="3627734"/>
            <a:ext cx="551161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5011024" y="4268744"/>
            <a:ext cx="551161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5011024" y="4895686"/>
            <a:ext cx="551161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382422" y="5406925"/>
            <a:ext cx="9759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锚点可以是某个具体的技术，也可以是跨领域技术融合，也可以是开发规范。成效方面要着重写显著提升</a:t>
            </a:r>
            <a:r>
              <a:rPr kumimoji="1" lang="en-US" altLang="zh-CN" sz="1600" dirty="0">
                <a:solidFill>
                  <a:schemeClr val="accent2"/>
                </a:solidFill>
              </a:rPr>
              <a:t>……</a:t>
            </a:r>
            <a:r>
              <a:rPr kumimoji="1" lang="zh-CN" altLang="en-US" sz="1600" dirty="0">
                <a:solidFill>
                  <a:schemeClr val="accent2"/>
                </a:solidFill>
              </a:rPr>
              <a:t>，效率提升</a:t>
            </a:r>
            <a:r>
              <a:rPr kumimoji="1" lang="en-US" altLang="zh-CN" sz="1600" dirty="0">
                <a:solidFill>
                  <a:schemeClr val="accent2"/>
                </a:solidFill>
              </a:rPr>
              <a:t>……</a:t>
            </a:r>
            <a:r>
              <a:rPr kumimoji="1" lang="zh-CN" altLang="en-US" sz="1600" dirty="0">
                <a:solidFill>
                  <a:schemeClr val="accent2"/>
                </a:solidFill>
              </a:rPr>
              <a:t>，等等。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得分点：创新创意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+5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04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创新设计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19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**模式创新</a:t>
            </a:r>
            <a:endParaRPr kumimoji="1"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533378" y="246184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创新锚点</a:t>
            </a:r>
            <a:endParaRPr kumimoji="1"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145991" y="246184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社会价值</a:t>
            </a:r>
            <a:endParaRPr kumimoji="1"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1398410" y="2408682"/>
            <a:ext cx="2540543" cy="506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11024" y="2408682"/>
            <a:ext cx="5511610" cy="506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394545" y="3244334"/>
            <a:ext cx="2556531" cy="383400"/>
            <a:chOff x="1394545" y="3244334"/>
            <a:chExt cx="2556531" cy="383400"/>
          </a:xfrm>
        </p:grpSpPr>
        <p:sp>
          <p:nvSpPr>
            <p:cNvPr id="13" name="文本框 12"/>
            <p:cNvSpPr txBox="1"/>
            <p:nvPr/>
          </p:nvSpPr>
          <p:spPr>
            <a:xfrm>
              <a:off x="1394545" y="3244334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1</a:t>
              </a:r>
              <a:r>
                <a:rPr kumimoji="1" lang="zh-CN" altLang="en-US" dirty="0"/>
                <a:t>、</a:t>
              </a:r>
              <a:r>
                <a:rPr kumimoji="1" lang="en-US" altLang="zh-CN" dirty="0"/>
                <a:t>……</a:t>
              </a:r>
              <a:endParaRPr kumimoji="1" lang="zh-CN" altLang="en-US" dirty="0"/>
            </a:p>
          </p:txBody>
        </p:sp>
        <p:cxnSp>
          <p:nvCxnSpPr>
            <p:cNvPr id="15" name="直线连接符 14"/>
            <p:cNvCxnSpPr/>
            <p:nvPr/>
          </p:nvCxnSpPr>
          <p:spPr>
            <a:xfrm>
              <a:off x="1406668" y="3627734"/>
              <a:ext cx="2544408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390415" y="3885344"/>
            <a:ext cx="2556531" cy="383400"/>
            <a:chOff x="1394545" y="3244334"/>
            <a:chExt cx="2556531" cy="383400"/>
          </a:xfrm>
        </p:grpSpPr>
        <p:sp>
          <p:nvSpPr>
            <p:cNvPr id="18" name="文本框 17"/>
            <p:cNvSpPr txBox="1"/>
            <p:nvPr/>
          </p:nvSpPr>
          <p:spPr>
            <a:xfrm>
              <a:off x="1394545" y="3244334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</a:t>
              </a:r>
              <a:r>
                <a:rPr kumimoji="1" lang="zh-CN" altLang="en-US" dirty="0"/>
                <a:t>、</a:t>
              </a:r>
              <a:r>
                <a:rPr kumimoji="1" lang="en-US" altLang="zh-CN" dirty="0"/>
                <a:t>……</a:t>
              </a:r>
              <a:endParaRPr kumimoji="1" lang="zh-CN" altLang="en-US" dirty="0"/>
            </a:p>
          </p:txBody>
        </p:sp>
        <p:cxnSp>
          <p:nvCxnSpPr>
            <p:cNvPr id="19" name="直线连接符 18"/>
            <p:cNvCxnSpPr/>
            <p:nvPr/>
          </p:nvCxnSpPr>
          <p:spPr>
            <a:xfrm>
              <a:off x="1406668" y="3627734"/>
              <a:ext cx="2544408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1382422" y="4526354"/>
            <a:ext cx="2556531" cy="383400"/>
            <a:chOff x="1394545" y="3244334"/>
            <a:chExt cx="2556531" cy="383400"/>
          </a:xfrm>
        </p:grpSpPr>
        <p:sp>
          <p:nvSpPr>
            <p:cNvPr id="21" name="文本框 20"/>
            <p:cNvSpPr txBox="1"/>
            <p:nvPr/>
          </p:nvSpPr>
          <p:spPr>
            <a:xfrm>
              <a:off x="1394545" y="3244334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</a:t>
              </a:r>
              <a:r>
                <a:rPr kumimoji="1" lang="zh-CN" altLang="en-US" dirty="0"/>
                <a:t>、</a:t>
              </a:r>
              <a:r>
                <a:rPr kumimoji="1" lang="en-US" altLang="zh-CN" dirty="0"/>
                <a:t>……</a:t>
              </a:r>
              <a:endParaRPr kumimoji="1" lang="zh-CN" altLang="en-US" dirty="0"/>
            </a:p>
          </p:txBody>
        </p:sp>
        <p:cxnSp>
          <p:nvCxnSpPr>
            <p:cNvPr id="22" name="直线连接符 21"/>
            <p:cNvCxnSpPr/>
            <p:nvPr/>
          </p:nvCxnSpPr>
          <p:spPr>
            <a:xfrm>
              <a:off x="1406668" y="3627734"/>
              <a:ext cx="2544408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线连接符 22"/>
          <p:cNvCxnSpPr/>
          <p:nvPr/>
        </p:nvCxnSpPr>
        <p:spPr>
          <a:xfrm>
            <a:off x="5011024" y="3627734"/>
            <a:ext cx="551161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5011024" y="4268744"/>
            <a:ext cx="551161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5011024" y="4895686"/>
            <a:ext cx="551161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382422" y="5406925"/>
            <a:ext cx="9759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accent2"/>
                </a:solidFill>
              </a:rPr>
              <a:t>其他类型创新可套用这个模板</a:t>
            </a:r>
            <a:endParaRPr kumimoji="1"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得分点：创新创意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+5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04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应用价值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20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应用价值</a:t>
            </a:r>
            <a:endParaRPr kumimoji="1" lang="zh-CN" altLang="en-US" sz="2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5756370" y="3524302"/>
            <a:ext cx="4863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文字内容应体现 实用性，经济性，可持续性。</a:t>
            </a:r>
            <a:endParaRPr kumimoji="1" lang="en-US" altLang="zh-CN" dirty="0"/>
          </a:p>
          <a:p>
            <a:r>
              <a:rPr kumimoji="1" lang="zh-CN" altLang="en-US" dirty="0"/>
              <a:t>“促进高质量就业”</a:t>
            </a:r>
            <a:endParaRPr kumimoji="1"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153551" y="2377440"/>
            <a:ext cx="2996418" cy="3559126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097762" y="35487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合作协议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得分点：应用价值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547" y="568034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04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/</a:t>
            </a:r>
            <a:r>
              <a:rPr kumimoji="1" lang="zh-CN" altLang="en-US" sz="2800" b="1" dirty="0"/>
              <a:t> 应用价值</a:t>
            </a:r>
            <a:endParaRPr kumimoji="1"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449598" y="475160"/>
            <a:ext cx="11292805" cy="6853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98" y="1432207"/>
            <a:ext cx="11292806" cy="49717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21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47547" y="1572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应用价值</a:t>
            </a:r>
            <a:endParaRPr kumimoji="1"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973517" y="229310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企业</a:t>
            </a:r>
            <a:endParaRPr kumimoji="1" lang="zh-CN" altLang="en-US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973517" y="36293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学校</a:t>
            </a:r>
            <a:endParaRPr kumimoji="1" lang="zh-CN" altLang="en-US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517" y="496568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团队</a:t>
            </a:r>
            <a:endParaRPr kumimoji="1" lang="zh-CN" altLang="en-US" sz="2000" b="1" dirty="0"/>
          </a:p>
        </p:txBody>
      </p:sp>
      <p:sp>
        <p:nvSpPr>
          <p:cNvPr id="14" name="矩形 13"/>
          <p:cNvSpPr/>
          <p:nvPr/>
        </p:nvSpPr>
        <p:spPr>
          <a:xfrm>
            <a:off x="6712736" y="2462852"/>
            <a:ext cx="2996418" cy="3559126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46848" y="37334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专利</a:t>
            </a:r>
            <a:endParaRPr kumimoji="1"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266734" y="2247446"/>
            <a:ext cx="2996418" cy="3559126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20732" y="2034548"/>
            <a:ext cx="2996418" cy="3559126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37612" y="2247445"/>
            <a:ext cx="5321126" cy="1074125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37612" y="3536429"/>
            <a:ext cx="5321126" cy="107412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37612" y="4875216"/>
            <a:ext cx="5321126" cy="107412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73517" y="2702748"/>
            <a:ext cx="5185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项目为**企业提供了“******”的技术解决方案，已与企业达成合作意向，预计年增收超***万元</a:t>
            </a:r>
            <a:endParaRPr kumimoji="1" lang="zh-CN" altLang="en-US" sz="1600" dirty="0"/>
          </a:p>
        </p:txBody>
      </p:sp>
      <p:sp>
        <p:nvSpPr>
          <p:cNvPr id="22" name="文本框 21"/>
          <p:cNvSpPr txBox="1"/>
          <p:nvPr/>
        </p:nvSpPr>
        <p:spPr>
          <a:xfrm>
            <a:off x="988557" y="4008794"/>
            <a:ext cx="5185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作为产教融合标杆项目，推动了“******”跨学科课程建设，为培养既懂技术又懂需求的复合型人才奠定了基础</a:t>
            </a:r>
            <a:endParaRPr kumimoji="1" lang="zh-CN" altLang="en-US" sz="1600" dirty="0"/>
          </a:p>
        </p:txBody>
      </p:sp>
      <p:sp>
        <p:nvSpPr>
          <p:cNvPr id="23" name="文本框 22"/>
          <p:cNvSpPr txBox="1"/>
          <p:nvPr/>
        </p:nvSpPr>
        <p:spPr>
          <a:xfrm>
            <a:off x="988557" y="5331824"/>
            <a:ext cx="5185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我们从“课堂学习者”成长为“问题解决者”，在技术攻关中掌握了******等核心技能</a:t>
            </a:r>
            <a:endParaRPr kumimoji="1" lang="zh-CN" altLang="en-US" sz="1600" dirty="0"/>
          </a:p>
        </p:txBody>
      </p:sp>
      <p:sp>
        <p:nvSpPr>
          <p:cNvPr id="7" name="文本框 6"/>
          <p:cNvSpPr txBox="1"/>
          <p:nvPr/>
        </p:nvSpPr>
        <p:spPr>
          <a:xfrm>
            <a:off x="344465" y="6517507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kumimoji="1" lang="zh-CN" altLang="en-US" sz="1200" b="1" dirty="0">
                <a:solidFill>
                  <a:srgbClr val="FFC000"/>
                </a:solidFill>
                <a:latin typeface="+mn-ea"/>
              </a:rPr>
              <a:t>得分点：应用价值 </a:t>
            </a:r>
            <a:r>
              <a:rPr kumimoji="1" lang="en-US" altLang="zh-CN" sz="1200" b="1" dirty="0">
                <a:solidFill>
                  <a:srgbClr val="FFC000"/>
                </a:solidFill>
                <a:latin typeface="+mn-ea"/>
              </a:rPr>
              <a:t>+2</a:t>
            </a:r>
            <a:endParaRPr kumimoji="1" lang="zh-CN" altLang="en-US" sz="12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20933" y="969817"/>
            <a:ext cx="5750135" cy="227214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kumimoji="1" lang="zh-CN" altLang="en-US" sz="4800" b="1" dirty="0">
                <a:solidFill>
                  <a:schemeClr val="tx1"/>
                </a:solidFill>
              </a:rPr>
              <a:t>路演</a:t>
            </a:r>
            <a:r>
              <a:rPr kumimoji="1" lang="en-US" altLang="zh-CN" sz="4800" b="1" dirty="0">
                <a:solidFill>
                  <a:schemeClr val="tx1"/>
                </a:solidFill>
              </a:rPr>
              <a:t>PPT</a:t>
            </a:r>
            <a:r>
              <a:rPr kumimoji="1" lang="zh-CN" altLang="en-US" sz="4800" b="1" dirty="0">
                <a:solidFill>
                  <a:schemeClr val="tx1"/>
                </a:solidFill>
              </a:rPr>
              <a:t>结束页</a:t>
            </a:r>
            <a:endParaRPr kumimoji="1" lang="zh-CN" altLang="en-US" sz="4800" b="1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 flipV="1">
            <a:off x="3660726" y="5033547"/>
            <a:ext cx="4870548" cy="96112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35351" y="52049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团队名称</a:t>
            </a:r>
            <a:endParaRPr kumimoji="1"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4635351" y="5492936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2"/>
                </a:solidFill>
              </a:rPr>
              <a:t>团队起的代号（不能出现真实名称）</a:t>
            </a:r>
            <a:endParaRPr kumimoji="1"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817150" y="645110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en-US" altLang="zh-CN" sz="1400" dirty="0"/>
              <a:t>Page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22</a:t>
            </a:r>
            <a:endParaRPr kumimoji="1" lang="zh-CN" altLang="en-US" sz="1400" dirty="0"/>
          </a:p>
        </p:txBody>
      </p:sp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866747" y="3241964"/>
            <a:ext cx="2458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>
                    <a:lumMod val="95000"/>
                  </a:schemeClr>
                </a:solidFill>
              </a:rPr>
              <a:t>背景图</a:t>
            </a:r>
            <a:endParaRPr kumimoji="1" lang="zh-CN" altLang="en-US" sz="44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5262</Words>
  <Application>WPS 演示</Application>
  <PresentationFormat>宽屏</PresentationFormat>
  <Paragraphs>799</Paragraphs>
  <Slides>26</Slides>
  <Notes>8</Notes>
  <HiddenSlides>2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Arial</vt:lpstr>
      <vt:lpstr>宋体</vt:lpstr>
      <vt:lpstr>Wingdings</vt:lpstr>
      <vt:lpstr>黑体</vt:lpstr>
      <vt:lpstr>汉仪中黑KW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Wingdings</vt:lpstr>
      <vt:lpstr>黑体</vt:lpstr>
      <vt:lpstr>思源黑体</vt:lpstr>
      <vt:lpstr>Apple Color Emoji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刘一星</dc:creator>
  <cp:lastModifiedBy>QVM</cp:lastModifiedBy>
  <cp:revision>23</cp:revision>
  <dcterms:created xsi:type="dcterms:W3CDTF">2026-03-23T04:19:25Z</dcterms:created>
  <dcterms:modified xsi:type="dcterms:W3CDTF">2026-03-23T04:19:25Z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C699166CF63727094DBFC069A69F7B73_42</vt:lpwstr>
  </property>
  <property fmtid="{D5CDD505-2E9C-101B-9397-08002B2CF9AE}" pid="3" name="KSOProductBuildVer">
    <vt:lpwstr>2052-12.1.25195.25195</vt:lpwstr>
  </property>
</Properties>
</file>